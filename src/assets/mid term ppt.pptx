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1.jpg" ContentType="image/jpeg"/>
  <Override PartName="/ppt/media/image12.jpg" ContentType="image/jpeg"/>
  <Override PartName="/ppt/media/image13.jpg" ContentType="image/jpeg"/>
  <Override PartName="/ppt/media/image1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7" r:id="rId10"/>
    <p:sldId id="268" r:id="rId11"/>
    <p:sldId id="265" r:id="rId12"/>
    <p:sldId id="266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784343"/>
            <a:ext cx="3679825" cy="4318000"/>
          </a:xfrm>
          <a:custGeom>
            <a:avLst/>
            <a:gdLst/>
            <a:ahLst/>
            <a:cxnLst/>
            <a:rect l="l" t="t" r="r" b="b"/>
            <a:pathLst>
              <a:path w="3679825" h="4318000">
                <a:moveTo>
                  <a:pt x="2433066" y="0"/>
                </a:moveTo>
                <a:lnTo>
                  <a:pt x="0" y="0"/>
                </a:lnTo>
                <a:lnTo>
                  <a:pt x="0" y="4317466"/>
                </a:lnTo>
                <a:lnTo>
                  <a:pt x="2433066" y="4317466"/>
                </a:lnTo>
                <a:lnTo>
                  <a:pt x="3679316" y="2158745"/>
                </a:lnTo>
                <a:lnTo>
                  <a:pt x="2433066" y="0"/>
                </a:lnTo>
                <a:close/>
              </a:path>
            </a:pathLst>
          </a:custGeom>
          <a:solidFill>
            <a:srgbClr val="1242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61080" y="7468742"/>
            <a:ext cx="3480435" cy="2818765"/>
          </a:xfrm>
          <a:custGeom>
            <a:avLst/>
            <a:gdLst/>
            <a:ahLst/>
            <a:cxnLst/>
            <a:rect l="l" t="t" r="r" b="b"/>
            <a:pathLst>
              <a:path w="3480434" h="2818765">
                <a:moveTo>
                  <a:pt x="2610358" y="0"/>
                </a:moveTo>
                <a:lnTo>
                  <a:pt x="870077" y="0"/>
                </a:lnTo>
                <a:lnTo>
                  <a:pt x="0" y="1506981"/>
                </a:lnTo>
                <a:lnTo>
                  <a:pt x="757174" y="2818256"/>
                </a:lnTo>
                <a:lnTo>
                  <a:pt x="2723354" y="2818256"/>
                </a:lnTo>
                <a:lnTo>
                  <a:pt x="3480308" y="1506981"/>
                </a:lnTo>
                <a:lnTo>
                  <a:pt x="2610358" y="0"/>
                </a:lnTo>
                <a:close/>
              </a:path>
            </a:pathLst>
          </a:custGeom>
          <a:solidFill>
            <a:srgbClr val="5CE0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00977" y="4005579"/>
            <a:ext cx="4277995" cy="6281420"/>
          </a:xfrm>
          <a:custGeom>
            <a:avLst/>
            <a:gdLst/>
            <a:ahLst/>
            <a:cxnLst/>
            <a:rect l="l" t="t" r="r" b="b"/>
            <a:pathLst>
              <a:path w="4277995" h="6281420">
                <a:moveTo>
                  <a:pt x="3378339" y="5252720"/>
                </a:moveTo>
                <a:lnTo>
                  <a:pt x="2533789" y="3789807"/>
                </a:lnTo>
                <a:lnTo>
                  <a:pt x="844575" y="3789807"/>
                </a:lnTo>
                <a:lnTo>
                  <a:pt x="0" y="5252720"/>
                </a:lnTo>
                <a:lnTo>
                  <a:pt x="593991" y="6281420"/>
                </a:lnTo>
                <a:lnTo>
                  <a:pt x="2784437" y="6281420"/>
                </a:lnTo>
                <a:lnTo>
                  <a:pt x="3378339" y="5252720"/>
                </a:lnTo>
                <a:close/>
              </a:path>
              <a:path w="4277995" h="6281420">
                <a:moveTo>
                  <a:pt x="4277626" y="778764"/>
                </a:moveTo>
                <a:lnTo>
                  <a:pt x="3828046" y="0"/>
                </a:lnTo>
                <a:lnTo>
                  <a:pt x="2928759" y="0"/>
                </a:lnTo>
                <a:lnTo>
                  <a:pt x="2479052" y="778764"/>
                </a:lnTo>
                <a:lnTo>
                  <a:pt x="2928759" y="1557655"/>
                </a:lnTo>
                <a:lnTo>
                  <a:pt x="3828046" y="1557655"/>
                </a:lnTo>
                <a:lnTo>
                  <a:pt x="4277626" y="778764"/>
                </a:lnTo>
                <a:close/>
              </a:path>
            </a:pathLst>
          </a:custGeom>
          <a:solidFill>
            <a:srgbClr val="49AE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49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7610475" cy="8689975"/>
          </a:xfrm>
          <a:custGeom>
            <a:avLst/>
            <a:gdLst/>
            <a:ahLst/>
            <a:cxnLst/>
            <a:rect l="l" t="t" r="r" b="b"/>
            <a:pathLst>
              <a:path w="7610475" h="8689975">
                <a:moveTo>
                  <a:pt x="5127547" y="0"/>
                </a:moveTo>
                <a:lnTo>
                  <a:pt x="0" y="0"/>
                </a:lnTo>
                <a:lnTo>
                  <a:pt x="0" y="8678121"/>
                </a:lnTo>
                <a:lnTo>
                  <a:pt x="6696" y="8689721"/>
                </a:lnTo>
                <a:lnTo>
                  <a:pt x="5075936" y="8689721"/>
                </a:lnTo>
                <a:lnTo>
                  <a:pt x="7610348" y="4299839"/>
                </a:lnTo>
                <a:lnTo>
                  <a:pt x="5127547" y="0"/>
                </a:lnTo>
                <a:close/>
              </a:path>
            </a:pathLst>
          </a:custGeom>
          <a:solidFill>
            <a:srgbClr val="49AE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505710" y="5767323"/>
            <a:ext cx="5967095" cy="4519930"/>
          </a:xfrm>
          <a:custGeom>
            <a:avLst/>
            <a:gdLst/>
            <a:ahLst/>
            <a:cxnLst/>
            <a:rect l="l" t="t" r="r" b="b"/>
            <a:pathLst>
              <a:path w="5967095" h="4519930">
                <a:moveTo>
                  <a:pt x="4475098" y="0"/>
                </a:moveTo>
                <a:lnTo>
                  <a:pt x="1491614" y="0"/>
                </a:lnTo>
                <a:lnTo>
                  <a:pt x="0" y="2583688"/>
                </a:lnTo>
                <a:lnTo>
                  <a:pt x="1117684" y="4519676"/>
                </a:lnTo>
                <a:lnTo>
                  <a:pt x="4849188" y="4519676"/>
                </a:lnTo>
                <a:lnTo>
                  <a:pt x="5966968" y="2583688"/>
                </a:lnTo>
                <a:lnTo>
                  <a:pt x="4475098" y="0"/>
                </a:lnTo>
                <a:close/>
              </a:path>
            </a:pathLst>
          </a:custGeom>
          <a:solidFill>
            <a:srgbClr val="5CE0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0889" y="698449"/>
            <a:ext cx="13206221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82766" y="3242513"/>
            <a:ext cx="9274175" cy="5193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13" Type="http://schemas.openxmlformats.org/officeDocument/2006/relationships/image" Target="../media/image1.png"/><Relationship Id="rId3" Type="http://schemas.openxmlformats.org/officeDocument/2006/relationships/image" Target="../media/image16.jpg"/><Relationship Id="rId7" Type="http://schemas.openxmlformats.org/officeDocument/2006/relationships/image" Target="../media/image20.jpg"/><Relationship Id="rId12" Type="http://schemas.openxmlformats.org/officeDocument/2006/relationships/image" Target="../media/image25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jpg"/><Relationship Id="rId11" Type="http://schemas.openxmlformats.org/officeDocument/2006/relationships/image" Target="../media/image24.jpg"/><Relationship Id="rId5" Type="http://schemas.openxmlformats.org/officeDocument/2006/relationships/image" Target="../media/image18.png"/><Relationship Id="rId10" Type="http://schemas.openxmlformats.org/officeDocument/2006/relationships/image" Target="../media/image23.jpg"/><Relationship Id="rId4" Type="http://schemas.openxmlformats.org/officeDocument/2006/relationships/image" Target="../media/image17.jpg"/><Relationship Id="rId9" Type="http://schemas.openxmlformats.org/officeDocument/2006/relationships/image" Target="../media/image22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22911" y="373634"/>
            <a:ext cx="6165215" cy="9913620"/>
            <a:chOff x="12122911" y="373634"/>
            <a:chExt cx="6165215" cy="9913620"/>
          </a:xfrm>
        </p:grpSpPr>
        <p:sp>
          <p:nvSpPr>
            <p:cNvPr id="3" name="object 3"/>
            <p:cNvSpPr/>
            <p:nvPr/>
          </p:nvSpPr>
          <p:spPr>
            <a:xfrm>
              <a:off x="14328901" y="2317114"/>
              <a:ext cx="3959225" cy="6340475"/>
            </a:xfrm>
            <a:custGeom>
              <a:avLst/>
              <a:gdLst/>
              <a:ahLst/>
              <a:cxnLst/>
              <a:rect l="l" t="t" r="r" b="b"/>
              <a:pathLst>
                <a:path w="3959225" h="6340475">
                  <a:moveTo>
                    <a:pt x="3959098" y="0"/>
                  </a:moveTo>
                  <a:lnTo>
                    <a:pt x="1830196" y="0"/>
                  </a:lnTo>
                  <a:lnTo>
                    <a:pt x="0" y="3170046"/>
                  </a:lnTo>
                  <a:lnTo>
                    <a:pt x="1830196" y="6340093"/>
                  </a:lnTo>
                  <a:lnTo>
                    <a:pt x="3959098" y="6340093"/>
                  </a:lnTo>
                  <a:lnTo>
                    <a:pt x="3959098" y="0"/>
                  </a:lnTo>
                  <a:close/>
                </a:path>
              </a:pathLst>
            </a:custGeom>
            <a:solidFill>
              <a:srgbClr val="004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122911" y="7035165"/>
              <a:ext cx="4970145" cy="3251835"/>
            </a:xfrm>
            <a:custGeom>
              <a:avLst/>
              <a:gdLst/>
              <a:ahLst/>
              <a:cxnLst/>
              <a:rect l="l" t="t" r="r" b="b"/>
              <a:pathLst>
                <a:path w="4970144" h="3251834">
                  <a:moveTo>
                    <a:pt x="3727577" y="0"/>
                  </a:moveTo>
                  <a:lnTo>
                    <a:pt x="1242568" y="0"/>
                  </a:lnTo>
                  <a:lnTo>
                    <a:pt x="0" y="2152053"/>
                  </a:lnTo>
                  <a:lnTo>
                    <a:pt x="634992" y="3251834"/>
                  </a:lnTo>
                  <a:lnTo>
                    <a:pt x="4335217" y="3251834"/>
                  </a:lnTo>
                  <a:lnTo>
                    <a:pt x="4970145" y="2152053"/>
                  </a:lnTo>
                  <a:lnTo>
                    <a:pt x="3727577" y="0"/>
                  </a:lnTo>
                  <a:close/>
                </a:path>
              </a:pathLst>
            </a:custGeom>
            <a:solidFill>
              <a:srgbClr val="49A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336398" y="5954903"/>
              <a:ext cx="2272030" cy="1967230"/>
            </a:xfrm>
            <a:custGeom>
              <a:avLst/>
              <a:gdLst/>
              <a:ahLst/>
              <a:cxnLst/>
              <a:rect l="l" t="t" r="r" b="b"/>
              <a:pathLst>
                <a:path w="2272030" h="1967229">
                  <a:moveTo>
                    <a:pt x="1703704" y="0"/>
                  </a:moveTo>
                  <a:lnTo>
                    <a:pt x="567817" y="0"/>
                  </a:lnTo>
                  <a:lnTo>
                    <a:pt x="0" y="983614"/>
                  </a:lnTo>
                  <a:lnTo>
                    <a:pt x="567817" y="1967230"/>
                  </a:lnTo>
                  <a:lnTo>
                    <a:pt x="1703704" y="1967230"/>
                  </a:lnTo>
                  <a:lnTo>
                    <a:pt x="2271649" y="983614"/>
                  </a:lnTo>
                  <a:lnTo>
                    <a:pt x="1703704" y="0"/>
                  </a:lnTo>
                  <a:close/>
                </a:path>
              </a:pathLst>
            </a:custGeom>
            <a:solidFill>
              <a:srgbClr val="5CE0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37716" y="373634"/>
              <a:ext cx="3799840" cy="3290570"/>
            </a:xfrm>
            <a:custGeom>
              <a:avLst/>
              <a:gdLst/>
              <a:ahLst/>
              <a:cxnLst/>
              <a:rect l="l" t="t" r="r" b="b"/>
              <a:pathLst>
                <a:path w="3799840" h="3290570">
                  <a:moveTo>
                    <a:pt x="2849625" y="0"/>
                  </a:moveTo>
                  <a:lnTo>
                    <a:pt x="949959" y="0"/>
                  </a:lnTo>
                  <a:lnTo>
                    <a:pt x="0" y="1645158"/>
                  </a:lnTo>
                  <a:lnTo>
                    <a:pt x="949959" y="3290443"/>
                  </a:lnTo>
                  <a:lnTo>
                    <a:pt x="2849752" y="3290443"/>
                  </a:lnTo>
                  <a:lnTo>
                    <a:pt x="3799713" y="1645158"/>
                  </a:lnTo>
                  <a:lnTo>
                    <a:pt x="2849625" y="0"/>
                  </a:lnTo>
                  <a:close/>
                </a:path>
              </a:pathLst>
            </a:custGeom>
            <a:solidFill>
              <a:srgbClr val="49A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10258" y="3262324"/>
            <a:ext cx="11610341" cy="328121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479550">
              <a:lnSpc>
                <a:spcPct val="100499"/>
              </a:lnSpc>
              <a:spcBef>
                <a:spcPts val="55"/>
              </a:spcBef>
            </a:pPr>
            <a:r>
              <a:rPr sz="7300" b="1" spc="-170" dirty="0">
                <a:latin typeface="Trebuchet MS"/>
                <a:cs typeface="Trebuchet MS"/>
              </a:rPr>
              <a:t>Review</a:t>
            </a:r>
            <a:r>
              <a:rPr sz="7300" b="1" spc="-434" dirty="0">
                <a:latin typeface="Trebuchet MS"/>
                <a:cs typeface="Trebuchet MS"/>
              </a:rPr>
              <a:t> </a:t>
            </a:r>
            <a:r>
              <a:rPr sz="7300" b="1" spc="-25" dirty="0">
                <a:latin typeface="Trebuchet MS"/>
                <a:cs typeface="Trebuchet MS"/>
              </a:rPr>
              <a:t>of </a:t>
            </a:r>
            <a:r>
              <a:rPr sz="7300" b="1" spc="-35" dirty="0">
                <a:latin typeface="Trebuchet MS"/>
                <a:cs typeface="Trebuchet MS"/>
              </a:rPr>
              <a:t>Internship</a:t>
            </a:r>
            <a:r>
              <a:rPr sz="7300" b="1" spc="-475" dirty="0">
                <a:latin typeface="Trebuchet MS"/>
                <a:cs typeface="Trebuchet MS"/>
              </a:rPr>
              <a:t> </a:t>
            </a:r>
            <a:r>
              <a:rPr sz="7300" b="1" spc="-25" dirty="0">
                <a:latin typeface="Trebuchet MS"/>
                <a:cs typeface="Trebuchet MS"/>
              </a:rPr>
              <a:t>at </a:t>
            </a:r>
            <a:r>
              <a:rPr sz="7300" b="1" spc="-20" dirty="0">
                <a:latin typeface="Trebuchet MS"/>
                <a:cs typeface="Trebuchet MS"/>
              </a:rPr>
              <a:t>Markytics.AI</a:t>
            </a:r>
            <a:endParaRPr sz="7300" dirty="0">
              <a:latin typeface="Trebuchet MS"/>
              <a:cs typeface="Trebuchet MS"/>
            </a:endParaRPr>
          </a:p>
          <a:p>
            <a:pPr marL="40005" marR="5080">
              <a:lnSpc>
                <a:spcPct val="117300"/>
              </a:lnSpc>
              <a:spcBef>
                <a:spcPts val="2130"/>
              </a:spcBef>
            </a:pP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comprehensive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overview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of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my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40" dirty="0">
                <a:latin typeface="Trebuchet MS"/>
                <a:cs typeface="Trebuchet MS"/>
              </a:rPr>
              <a:t>training,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70" dirty="0">
                <a:latin typeface="Trebuchet MS"/>
                <a:cs typeface="Trebuchet MS"/>
              </a:rPr>
              <a:t>projects,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personal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growth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during </a:t>
            </a:r>
            <a:r>
              <a:rPr sz="2200" dirty="0">
                <a:latin typeface="Trebuchet MS"/>
                <a:cs typeface="Trebuchet MS"/>
              </a:rPr>
              <a:t>my</a:t>
            </a:r>
            <a:r>
              <a:rPr sz="2200" spc="-6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internship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at</a:t>
            </a:r>
            <a:r>
              <a:rPr sz="2200" spc="-6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Markytics.AI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8411971"/>
            <a:ext cx="5345430" cy="1019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latin typeface="Trebuchet MS"/>
                <a:cs typeface="Trebuchet MS"/>
              </a:rPr>
              <a:t>College</a:t>
            </a:r>
            <a:r>
              <a:rPr sz="2500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Department</a:t>
            </a:r>
            <a:r>
              <a:rPr sz="2500" spc="-1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Supervisor </a:t>
            </a:r>
            <a:r>
              <a:rPr sz="2500" spc="-20" dirty="0">
                <a:latin typeface="Trebuchet MS"/>
                <a:cs typeface="Trebuchet MS"/>
              </a:rPr>
              <a:t>Name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500" dirty="0">
                <a:latin typeface="Trebuchet MS"/>
                <a:cs typeface="Trebuchet MS"/>
              </a:rPr>
              <a:t>Company</a:t>
            </a:r>
            <a:r>
              <a:rPr sz="2500" spc="130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Supervisor</a:t>
            </a:r>
            <a:r>
              <a:rPr sz="2500" spc="140" dirty="0">
                <a:latin typeface="Trebuchet MS"/>
                <a:cs typeface="Trebuchet MS"/>
              </a:rPr>
              <a:t> </a:t>
            </a:r>
            <a:r>
              <a:rPr sz="2500" spc="-20" dirty="0">
                <a:latin typeface="Trebuchet MS"/>
                <a:cs typeface="Trebuchet MS"/>
              </a:rPr>
              <a:t>Name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80326" y="8411971"/>
            <a:ext cx="2621915" cy="1019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35" dirty="0">
                <a:latin typeface="Trebuchet MS"/>
                <a:cs typeface="Trebuchet MS"/>
              </a:rPr>
              <a:t>Jyoti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Yadav</a:t>
            </a: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500" dirty="0">
                <a:latin typeface="Trebuchet MS"/>
                <a:cs typeface="Trebuchet MS"/>
              </a:rPr>
              <a:t>Utkarsh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0" dirty="0">
                <a:latin typeface="Trebuchet MS"/>
                <a:cs typeface="Trebuchet MS"/>
              </a:rPr>
              <a:t>Mukkawar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2619" y="1861845"/>
            <a:ext cx="2305685" cy="1010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200"/>
              </a:lnSpc>
              <a:spcBef>
                <a:spcPts val="100"/>
              </a:spcBef>
            </a:pPr>
            <a:r>
              <a:rPr sz="2500" spc="65" dirty="0">
                <a:latin typeface="Trebuchet MS"/>
                <a:cs typeface="Trebuchet MS"/>
              </a:rPr>
              <a:t>Suyash</a:t>
            </a:r>
            <a:r>
              <a:rPr sz="2500" spc="-10" dirty="0">
                <a:latin typeface="Trebuchet MS"/>
                <a:cs typeface="Trebuchet MS"/>
              </a:rPr>
              <a:t> </a:t>
            </a:r>
            <a:r>
              <a:rPr sz="2500" spc="-40" dirty="0">
                <a:latin typeface="Trebuchet MS"/>
                <a:cs typeface="Trebuchet MS"/>
              </a:rPr>
              <a:t>Gaikwad </a:t>
            </a:r>
            <a:r>
              <a:rPr sz="2500" spc="-10" dirty="0">
                <a:latin typeface="Trebuchet MS"/>
                <a:cs typeface="Trebuchet MS"/>
              </a:rPr>
              <a:t>12210658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96848" y="1863400"/>
            <a:ext cx="847725" cy="1009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099"/>
              </a:lnSpc>
              <a:spcBef>
                <a:spcPts val="95"/>
              </a:spcBef>
            </a:pPr>
            <a:r>
              <a:rPr sz="2500" spc="-20" dirty="0"/>
              <a:t>Name </a:t>
            </a:r>
            <a:r>
              <a:rPr sz="2500" spc="-25" dirty="0"/>
              <a:t>PRN</a:t>
            </a:r>
            <a:endParaRPr sz="25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93BDA97-75E2-0E10-ABB7-12F32B9645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42900"/>
            <a:ext cx="945531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5857" y="3162300"/>
            <a:ext cx="4390544" cy="2616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8500" spc="-75" dirty="0">
                <a:solidFill>
                  <a:srgbClr val="F4F4F4"/>
                </a:solidFill>
                <a:latin typeface="Trebuchet MS"/>
                <a:cs typeface="Trebuchet MS"/>
              </a:rPr>
              <a:t>Table</a:t>
            </a:r>
            <a:r>
              <a:rPr sz="8500" spc="-56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8500" spc="-35" dirty="0">
                <a:solidFill>
                  <a:srgbClr val="F4F4F4"/>
                </a:solidFill>
                <a:latin typeface="Trebuchet MS"/>
                <a:cs typeface="Trebuchet MS"/>
              </a:rPr>
              <a:t>of </a:t>
            </a:r>
            <a:r>
              <a:rPr sz="8500" spc="-10" dirty="0">
                <a:solidFill>
                  <a:srgbClr val="F4F4F4"/>
                </a:solidFill>
                <a:latin typeface="Trebuchet MS"/>
                <a:cs typeface="Trebuchet MS"/>
              </a:rPr>
              <a:t>Content</a:t>
            </a:r>
            <a:endParaRPr sz="8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91800" y="800100"/>
            <a:ext cx="6593205" cy="8253926"/>
          </a:xfrm>
          <a:prstGeom prst="rect">
            <a:avLst/>
          </a:prstGeom>
        </p:spPr>
        <p:txBody>
          <a:bodyPr vert="horz" wrap="square" lIns="0" tIns="459105" rIns="0" bIns="0" rtlCol="0">
            <a:spAutoFit/>
          </a:bodyPr>
          <a:lstStyle/>
          <a:p>
            <a:pPr marL="551815" indent="-539115">
              <a:lnSpc>
                <a:spcPct val="100000"/>
              </a:lnSpc>
              <a:spcBef>
                <a:spcPts val="3615"/>
              </a:spcBef>
              <a:buFont typeface="Arial MT"/>
              <a:buChar char="•"/>
              <a:tabLst>
                <a:tab pos="551815" algn="l"/>
              </a:tabLst>
            </a:pPr>
            <a:r>
              <a:rPr sz="4000" spc="-10" dirty="0">
                <a:solidFill>
                  <a:srgbClr val="F4F4F4"/>
                </a:solidFill>
                <a:latin typeface="Trebuchet MS"/>
                <a:cs typeface="Trebuchet MS"/>
              </a:rPr>
              <a:t>Introduction</a:t>
            </a:r>
            <a:endParaRPr sz="4000" dirty="0">
              <a:latin typeface="Trebuchet MS"/>
              <a:cs typeface="Trebuchet MS"/>
            </a:endParaRPr>
          </a:p>
          <a:p>
            <a:pPr marL="551815" indent="-539115">
              <a:lnSpc>
                <a:spcPct val="100000"/>
              </a:lnSpc>
              <a:spcBef>
                <a:spcPts val="3519"/>
              </a:spcBef>
              <a:buFont typeface="Arial MT"/>
              <a:buChar char="•"/>
              <a:tabLst>
                <a:tab pos="551815" algn="l"/>
              </a:tabLst>
            </a:pPr>
            <a:r>
              <a:rPr sz="4000" spc="50" dirty="0">
                <a:solidFill>
                  <a:srgbClr val="F4F4F4"/>
                </a:solidFill>
                <a:latin typeface="Trebuchet MS"/>
                <a:cs typeface="Trebuchet MS"/>
              </a:rPr>
              <a:t>Internship</a:t>
            </a:r>
            <a:r>
              <a:rPr sz="4000" spc="-15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F4F4F4"/>
                </a:solidFill>
                <a:latin typeface="Trebuchet MS"/>
                <a:cs typeface="Trebuchet MS"/>
              </a:rPr>
              <a:t>Overview</a:t>
            </a:r>
            <a:endParaRPr sz="4000" dirty="0">
              <a:latin typeface="Trebuchet MS"/>
              <a:cs typeface="Trebuchet MS"/>
            </a:endParaRPr>
          </a:p>
          <a:p>
            <a:pPr marL="551815" indent="-539115">
              <a:lnSpc>
                <a:spcPct val="100000"/>
              </a:lnSpc>
              <a:spcBef>
                <a:spcPts val="3950"/>
              </a:spcBef>
              <a:buFont typeface="Arial MT"/>
              <a:buChar char="•"/>
              <a:tabLst>
                <a:tab pos="551815" algn="l"/>
              </a:tabLst>
            </a:pPr>
            <a:r>
              <a:rPr sz="4000" spc="-10" dirty="0">
                <a:solidFill>
                  <a:srgbClr val="F4F4F4"/>
                </a:solidFill>
                <a:latin typeface="Trebuchet MS"/>
                <a:cs typeface="Trebuchet MS"/>
              </a:rPr>
              <a:t>Training</a:t>
            </a:r>
            <a:r>
              <a:rPr sz="4000" spc="-31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F4F4F4"/>
                </a:solidFill>
                <a:latin typeface="Trebuchet MS"/>
                <a:cs typeface="Trebuchet MS"/>
              </a:rPr>
              <a:t>Overview</a:t>
            </a:r>
            <a:endParaRPr sz="4000" dirty="0">
              <a:latin typeface="Trebuchet MS"/>
              <a:cs typeface="Trebuchet MS"/>
            </a:endParaRPr>
          </a:p>
          <a:p>
            <a:pPr marL="551815" indent="-539115">
              <a:lnSpc>
                <a:spcPct val="100000"/>
              </a:lnSpc>
              <a:spcBef>
                <a:spcPts val="3950"/>
              </a:spcBef>
              <a:buFont typeface="Arial MT"/>
              <a:buChar char="•"/>
              <a:tabLst>
                <a:tab pos="551815" algn="l"/>
              </a:tabLst>
            </a:pPr>
            <a:r>
              <a:rPr sz="4000" spc="-70" dirty="0">
                <a:solidFill>
                  <a:srgbClr val="F4F4F4"/>
                </a:solidFill>
                <a:latin typeface="Trebuchet MS"/>
                <a:cs typeface="Trebuchet MS"/>
              </a:rPr>
              <a:t>Project-</a:t>
            </a:r>
            <a:r>
              <a:rPr sz="4000" spc="-25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4000" spc="-40" dirty="0">
                <a:solidFill>
                  <a:srgbClr val="F4F4F4"/>
                </a:solidFill>
                <a:latin typeface="Trebuchet MS"/>
                <a:cs typeface="Trebuchet MS"/>
              </a:rPr>
              <a:t>SmartCollect</a:t>
            </a:r>
            <a:endParaRPr sz="4000" dirty="0">
              <a:latin typeface="Trebuchet MS"/>
              <a:cs typeface="Trebuchet MS"/>
            </a:endParaRPr>
          </a:p>
          <a:p>
            <a:pPr marL="551815" indent="-539115">
              <a:lnSpc>
                <a:spcPct val="100000"/>
              </a:lnSpc>
              <a:spcBef>
                <a:spcPts val="2835"/>
              </a:spcBef>
              <a:buFont typeface="Arial MT"/>
              <a:buChar char="•"/>
              <a:tabLst>
                <a:tab pos="551815" algn="l"/>
              </a:tabLst>
            </a:pPr>
            <a:r>
              <a:rPr sz="4000" dirty="0">
                <a:solidFill>
                  <a:srgbClr val="F4F4F4"/>
                </a:solidFill>
                <a:latin typeface="Trebuchet MS"/>
                <a:cs typeface="Trebuchet MS"/>
              </a:rPr>
              <a:t>AI</a:t>
            </a:r>
            <a:r>
              <a:rPr sz="4000" spc="-165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4000" spc="70" dirty="0">
                <a:solidFill>
                  <a:srgbClr val="F4F4F4"/>
                </a:solidFill>
                <a:latin typeface="Trebuchet MS"/>
                <a:cs typeface="Trebuchet MS"/>
              </a:rPr>
              <a:t>Scrub</a:t>
            </a:r>
            <a:r>
              <a:rPr sz="4000" spc="-165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F4F4F4"/>
                </a:solidFill>
                <a:latin typeface="Trebuchet MS"/>
                <a:cs typeface="Trebuchet MS"/>
              </a:rPr>
              <a:t>Analysis</a:t>
            </a:r>
            <a:endParaRPr sz="4000" dirty="0">
              <a:latin typeface="Trebuchet MS"/>
              <a:cs typeface="Trebuchet MS"/>
            </a:endParaRPr>
          </a:p>
          <a:p>
            <a:pPr marL="551815" marR="5080" indent="-539750">
              <a:lnSpc>
                <a:spcPct val="116599"/>
              </a:lnSpc>
              <a:buFont typeface="Arial MT"/>
              <a:buChar char="•"/>
              <a:tabLst>
                <a:tab pos="551815" algn="l"/>
              </a:tabLst>
            </a:pPr>
            <a:r>
              <a:rPr sz="4000" dirty="0">
                <a:solidFill>
                  <a:srgbClr val="F4F4F4"/>
                </a:solidFill>
                <a:latin typeface="Trebuchet MS"/>
                <a:cs typeface="Trebuchet MS"/>
              </a:rPr>
              <a:t>Risk</a:t>
            </a:r>
            <a:r>
              <a:rPr sz="4000" spc="-10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4000" spc="-45" dirty="0">
                <a:solidFill>
                  <a:srgbClr val="F4F4F4"/>
                </a:solidFill>
                <a:latin typeface="Trebuchet MS"/>
                <a:cs typeface="Trebuchet MS"/>
              </a:rPr>
              <a:t>Categorization</a:t>
            </a:r>
            <a:r>
              <a:rPr sz="4000" spc="-14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4000" spc="20" dirty="0">
                <a:solidFill>
                  <a:srgbClr val="F4F4F4"/>
                </a:solidFill>
                <a:latin typeface="Trebuchet MS"/>
                <a:cs typeface="Trebuchet MS"/>
              </a:rPr>
              <a:t>&amp; </a:t>
            </a:r>
            <a:r>
              <a:rPr sz="4000" spc="-10" dirty="0">
                <a:solidFill>
                  <a:srgbClr val="F4F4F4"/>
                </a:solidFill>
                <a:latin typeface="Trebuchet MS"/>
                <a:cs typeface="Trebuchet MS"/>
              </a:rPr>
              <a:t>Inquiry</a:t>
            </a:r>
            <a:endParaRPr lang="en-IN" sz="4000" spc="-10" dirty="0">
              <a:solidFill>
                <a:srgbClr val="F4F4F4"/>
              </a:solidFill>
              <a:latin typeface="Trebuchet MS"/>
              <a:cs typeface="Trebuchet MS"/>
            </a:endParaRPr>
          </a:p>
          <a:p>
            <a:pPr marL="551815" marR="5080" indent="-539750">
              <a:lnSpc>
                <a:spcPct val="116599"/>
              </a:lnSpc>
              <a:buFont typeface="Arial MT"/>
              <a:buChar char="•"/>
              <a:tabLst>
                <a:tab pos="551815" algn="l"/>
              </a:tabLst>
            </a:pPr>
            <a:r>
              <a:rPr lang="en-IN" sz="4000" spc="-10" dirty="0">
                <a:solidFill>
                  <a:srgbClr val="F4F4F4"/>
                </a:solidFill>
                <a:latin typeface="Trebuchet MS"/>
                <a:cs typeface="Trebuchet MS"/>
              </a:rPr>
              <a:t>Sakhi App</a:t>
            </a:r>
          </a:p>
          <a:p>
            <a:pPr marL="551815" indent="-539115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551815" algn="l"/>
              </a:tabLst>
            </a:pPr>
            <a:r>
              <a:rPr sz="4000" dirty="0">
                <a:solidFill>
                  <a:srgbClr val="F4F4F4"/>
                </a:solidFill>
                <a:latin typeface="Trebuchet MS"/>
                <a:cs typeface="Trebuchet MS"/>
              </a:rPr>
              <a:t>Technologies</a:t>
            </a:r>
            <a:r>
              <a:rPr sz="4000" spc="60" dirty="0">
                <a:solidFill>
                  <a:srgbClr val="F4F4F4"/>
                </a:solidFill>
                <a:latin typeface="Trebuchet MS"/>
                <a:cs typeface="Trebuchet MS"/>
              </a:rPr>
              <a:t> </a:t>
            </a:r>
            <a:r>
              <a:rPr sz="4000" spc="105" dirty="0">
                <a:solidFill>
                  <a:srgbClr val="F4F4F4"/>
                </a:solidFill>
                <a:latin typeface="Trebuchet MS"/>
                <a:cs typeface="Trebuchet MS"/>
              </a:rPr>
              <a:t>used</a:t>
            </a:r>
            <a:endParaRPr sz="4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59898" y="564006"/>
            <a:ext cx="8428355" cy="9723120"/>
            <a:chOff x="9859898" y="564006"/>
            <a:chExt cx="8428355" cy="9723120"/>
          </a:xfrm>
        </p:grpSpPr>
        <p:sp>
          <p:nvSpPr>
            <p:cNvPr id="3" name="object 3"/>
            <p:cNvSpPr/>
            <p:nvPr/>
          </p:nvSpPr>
          <p:spPr>
            <a:xfrm>
              <a:off x="14151736" y="4201160"/>
              <a:ext cx="4136390" cy="6085840"/>
            </a:xfrm>
            <a:custGeom>
              <a:avLst/>
              <a:gdLst/>
              <a:ahLst/>
              <a:cxnLst/>
              <a:rect l="l" t="t" r="r" b="b"/>
              <a:pathLst>
                <a:path w="4136390" h="6085840">
                  <a:moveTo>
                    <a:pt x="4136263" y="0"/>
                  </a:moveTo>
                  <a:lnTo>
                    <a:pt x="1756791" y="0"/>
                  </a:lnTo>
                  <a:lnTo>
                    <a:pt x="0" y="3042920"/>
                  </a:lnTo>
                  <a:lnTo>
                    <a:pt x="1756791" y="6085839"/>
                  </a:lnTo>
                  <a:lnTo>
                    <a:pt x="4136263" y="6085839"/>
                  </a:lnTo>
                  <a:lnTo>
                    <a:pt x="4136263" y="0"/>
                  </a:lnTo>
                  <a:close/>
                </a:path>
              </a:pathLst>
            </a:custGeom>
            <a:solidFill>
              <a:srgbClr val="004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859898" y="564006"/>
              <a:ext cx="4961255" cy="4296410"/>
            </a:xfrm>
            <a:custGeom>
              <a:avLst/>
              <a:gdLst/>
              <a:ahLst/>
              <a:cxnLst/>
              <a:rect l="l" t="t" r="r" b="b"/>
              <a:pathLst>
                <a:path w="4961255" h="4296410">
                  <a:moveTo>
                    <a:pt x="3720718" y="0"/>
                  </a:moveTo>
                  <a:lnTo>
                    <a:pt x="1240154" y="0"/>
                  </a:lnTo>
                  <a:lnTo>
                    <a:pt x="0" y="2148204"/>
                  </a:lnTo>
                  <a:lnTo>
                    <a:pt x="1240154" y="4296410"/>
                  </a:lnTo>
                  <a:lnTo>
                    <a:pt x="3720972" y="4296410"/>
                  </a:lnTo>
                  <a:lnTo>
                    <a:pt x="4961255" y="2148204"/>
                  </a:lnTo>
                  <a:lnTo>
                    <a:pt x="3720718" y="0"/>
                  </a:lnTo>
                  <a:close/>
                </a:path>
              </a:pathLst>
            </a:custGeom>
            <a:solidFill>
              <a:srgbClr val="49A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46054" y="2120137"/>
              <a:ext cx="7611491" cy="659117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71855" y="2428443"/>
            <a:ext cx="7360920" cy="2616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8500" spc="45" dirty="0"/>
              <a:t>Introduction</a:t>
            </a:r>
            <a:r>
              <a:rPr sz="8500" spc="-550" dirty="0"/>
              <a:t> </a:t>
            </a:r>
            <a:r>
              <a:rPr sz="8500" spc="-25" dirty="0"/>
              <a:t>to </a:t>
            </a:r>
            <a:r>
              <a:rPr sz="8500" spc="-10" dirty="0"/>
              <a:t>the</a:t>
            </a:r>
            <a:r>
              <a:rPr sz="8500" spc="-620" dirty="0"/>
              <a:t> </a:t>
            </a:r>
            <a:r>
              <a:rPr sz="8500" spc="65" dirty="0"/>
              <a:t>Company</a:t>
            </a:r>
            <a:endParaRPr sz="8500"/>
          </a:p>
        </p:txBody>
      </p:sp>
      <p:sp>
        <p:nvSpPr>
          <p:cNvPr id="7" name="object 7"/>
          <p:cNvSpPr txBox="1"/>
          <p:nvPr/>
        </p:nvSpPr>
        <p:spPr>
          <a:xfrm>
            <a:off x="771855" y="5269229"/>
            <a:ext cx="8260715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35623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Markytics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helps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businesses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use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AI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smarter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connect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better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customers.</a:t>
            </a:r>
            <a:endParaRPr sz="2400">
              <a:latin typeface="Arial MT"/>
              <a:cs typeface="Arial MT"/>
            </a:endParaRPr>
          </a:p>
          <a:p>
            <a:pPr marL="354965" marR="5080" indent="-34290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provide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AI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solutions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improve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business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processes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automation,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analytics.</a:t>
            </a:r>
            <a:endParaRPr sz="2400">
              <a:latin typeface="Arial MT"/>
              <a:cs typeface="Arial MT"/>
            </a:endParaRPr>
          </a:p>
          <a:p>
            <a:pPr marL="354965" marR="250825" indent="-34290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Our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focus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b="1" spc="-20" dirty="0">
                <a:latin typeface="Arial"/>
                <a:cs typeface="Arial"/>
              </a:rPr>
              <a:t>efficiency,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customer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engagement,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and </a:t>
            </a:r>
            <a:r>
              <a:rPr sz="2400" b="1" dirty="0">
                <a:latin typeface="Arial"/>
                <a:cs typeface="Arial"/>
              </a:rPr>
              <a:t>growth</a:t>
            </a:r>
            <a:r>
              <a:rPr sz="2400" b="1" spc="-10" dirty="0">
                <a:latin typeface="Arial"/>
                <a:cs typeface="Arial"/>
              </a:rPr>
              <a:t> opportunities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354965" marR="688975" indent="-34290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Generative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AI,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Predictive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Analytics,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 </a:t>
            </a:r>
            <a:r>
              <a:rPr sz="2400" dirty="0">
                <a:latin typeface="Arial MT"/>
                <a:cs typeface="Arial MT"/>
              </a:rPr>
              <a:t>Automation,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deliver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results.</a:t>
            </a:r>
            <a:endParaRPr sz="2400">
              <a:latin typeface="Arial MT"/>
              <a:cs typeface="Arial MT"/>
            </a:endParaRPr>
          </a:p>
          <a:p>
            <a:pPr marL="354965" marR="219075" indent="-342900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latin typeface="Arial"/>
                <a:cs typeface="Arial"/>
              </a:rPr>
              <a:t>Enterprise</a:t>
            </a:r>
            <a:r>
              <a:rPr sz="2400" b="1" spc="-1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AI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from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Markytics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powers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smarter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decisions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better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experiences.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63C3DEC-E5D2-7B7F-A87F-AEC65A81C390}"/>
              </a:ext>
            </a:extLst>
          </p:cNvPr>
          <p:cNvGrpSpPr/>
          <p:nvPr/>
        </p:nvGrpSpPr>
        <p:grpSpPr>
          <a:xfrm>
            <a:off x="15087600" y="342900"/>
            <a:ext cx="2847339" cy="1094041"/>
            <a:chOff x="15087600" y="342900"/>
            <a:chExt cx="2847339" cy="1094041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87600" y="342900"/>
              <a:ext cx="962228" cy="1094041"/>
            </a:xfrm>
            <a:prstGeom prst="rect">
              <a:avLst/>
            </a:prstGeom>
          </p:spPr>
        </p:pic>
        <p:sp>
          <p:nvSpPr>
            <p:cNvPr id="9" name="object 9"/>
            <p:cNvSpPr txBox="1"/>
            <p:nvPr/>
          </p:nvSpPr>
          <p:spPr>
            <a:xfrm>
              <a:off x="16230600" y="647700"/>
              <a:ext cx="1704339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spc="-10" dirty="0">
                  <a:latin typeface="Trebuchet MS"/>
                  <a:cs typeface="Trebuchet MS"/>
                </a:rPr>
                <a:t>Markytics.AI</a:t>
              </a:r>
              <a:endParaRPr sz="2400">
                <a:latin typeface="Trebuchet MS"/>
                <a:cs typeface="Trebuchet MS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4A5CCBA-399B-C804-84F6-50A4A85546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42900"/>
            <a:ext cx="945531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3000" y="5981700"/>
            <a:ext cx="17256760" cy="393700"/>
            <a:chOff x="1031798" y="8153272"/>
            <a:chExt cx="17256760" cy="393700"/>
          </a:xfrm>
        </p:grpSpPr>
        <p:sp>
          <p:nvSpPr>
            <p:cNvPr id="3" name="object 3"/>
            <p:cNvSpPr/>
            <p:nvPr/>
          </p:nvSpPr>
          <p:spPr>
            <a:xfrm>
              <a:off x="1268577" y="8362949"/>
              <a:ext cx="17019905" cy="0"/>
            </a:xfrm>
            <a:custGeom>
              <a:avLst/>
              <a:gdLst/>
              <a:ahLst/>
              <a:cxnLst/>
              <a:rect l="l" t="t" r="r" b="b"/>
              <a:pathLst>
                <a:path w="17019905">
                  <a:moveTo>
                    <a:pt x="0" y="0"/>
                  </a:moveTo>
                  <a:lnTo>
                    <a:pt x="17019422" y="0"/>
                  </a:lnTo>
                </a:path>
              </a:pathLst>
            </a:custGeom>
            <a:ln w="19050">
              <a:solidFill>
                <a:srgbClr val="0049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31798" y="8153272"/>
              <a:ext cx="13242925" cy="393700"/>
            </a:xfrm>
            <a:custGeom>
              <a:avLst/>
              <a:gdLst/>
              <a:ahLst/>
              <a:cxnLst/>
              <a:rect l="l" t="t" r="r" b="b"/>
              <a:pathLst>
                <a:path w="13242925" h="393700">
                  <a:moveTo>
                    <a:pt x="380187" y="209677"/>
                  </a:moveTo>
                  <a:lnTo>
                    <a:pt x="285191" y="45085"/>
                  </a:lnTo>
                  <a:lnTo>
                    <a:pt x="95059" y="45085"/>
                  </a:lnTo>
                  <a:lnTo>
                    <a:pt x="0" y="209677"/>
                  </a:lnTo>
                  <a:lnTo>
                    <a:pt x="95059" y="374396"/>
                  </a:lnTo>
                  <a:lnTo>
                    <a:pt x="285191" y="374396"/>
                  </a:lnTo>
                  <a:lnTo>
                    <a:pt x="380187" y="209677"/>
                  </a:lnTo>
                  <a:close/>
                </a:path>
                <a:path w="13242925" h="393700">
                  <a:moveTo>
                    <a:pt x="3742004" y="164592"/>
                  </a:moveTo>
                  <a:lnTo>
                    <a:pt x="3647008" y="0"/>
                  </a:lnTo>
                  <a:lnTo>
                    <a:pt x="3456889" y="0"/>
                  </a:lnTo>
                  <a:lnTo>
                    <a:pt x="3361766" y="164592"/>
                  </a:lnTo>
                  <a:lnTo>
                    <a:pt x="3456889" y="329311"/>
                  </a:lnTo>
                  <a:lnTo>
                    <a:pt x="3647008" y="329311"/>
                  </a:lnTo>
                  <a:lnTo>
                    <a:pt x="3742004" y="164592"/>
                  </a:lnTo>
                  <a:close/>
                </a:path>
                <a:path w="13242925" h="393700">
                  <a:moveTo>
                    <a:pt x="6726758" y="228727"/>
                  </a:moveTo>
                  <a:lnTo>
                    <a:pt x="6631635" y="64135"/>
                  </a:lnTo>
                  <a:lnTo>
                    <a:pt x="6441643" y="64135"/>
                  </a:lnTo>
                  <a:lnTo>
                    <a:pt x="6346520" y="228727"/>
                  </a:lnTo>
                  <a:lnTo>
                    <a:pt x="6441643" y="393446"/>
                  </a:lnTo>
                  <a:lnTo>
                    <a:pt x="6631762" y="393446"/>
                  </a:lnTo>
                  <a:lnTo>
                    <a:pt x="6726758" y="228727"/>
                  </a:lnTo>
                  <a:close/>
                </a:path>
                <a:path w="13242925" h="393700">
                  <a:moveTo>
                    <a:pt x="10088321" y="209677"/>
                  </a:moveTo>
                  <a:lnTo>
                    <a:pt x="9993198" y="45085"/>
                  </a:lnTo>
                  <a:lnTo>
                    <a:pt x="9803079" y="45085"/>
                  </a:lnTo>
                  <a:lnTo>
                    <a:pt x="9708083" y="209677"/>
                  </a:lnTo>
                  <a:lnTo>
                    <a:pt x="9803079" y="374396"/>
                  </a:lnTo>
                  <a:lnTo>
                    <a:pt x="9993198" y="374396"/>
                  </a:lnTo>
                  <a:lnTo>
                    <a:pt x="10088321" y="209677"/>
                  </a:lnTo>
                  <a:close/>
                </a:path>
                <a:path w="13242925" h="393700">
                  <a:moveTo>
                    <a:pt x="13242747" y="219202"/>
                  </a:moveTo>
                  <a:lnTo>
                    <a:pt x="13147751" y="54610"/>
                  </a:lnTo>
                  <a:lnTo>
                    <a:pt x="12957632" y="54610"/>
                  </a:lnTo>
                  <a:lnTo>
                    <a:pt x="12862636" y="219202"/>
                  </a:lnTo>
                  <a:lnTo>
                    <a:pt x="12957632" y="383921"/>
                  </a:lnTo>
                  <a:lnTo>
                    <a:pt x="13147751" y="383921"/>
                  </a:lnTo>
                  <a:lnTo>
                    <a:pt x="13242747" y="219202"/>
                  </a:lnTo>
                  <a:close/>
                </a:path>
              </a:pathLst>
            </a:custGeom>
            <a:solidFill>
              <a:srgbClr val="004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16000" y="4854955"/>
            <a:ext cx="2705735" cy="73314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107950">
              <a:lnSpc>
                <a:spcPct val="100800"/>
              </a:lnSpc>
              <a:spcBef>
                <a:spcPts val="75"/>
              </a:spcBef>
            </a:pPr>
            <a:r>
              <a:rPr sz="2400" spc="90" dirty="0">
                <a:solidFill>
                  <a:srgbClr val="5CE0E6"/>
                </a:solidFill>
                <a:latin typeface="Trebuchet MS"/>
                <a:cs typeface="Trebuchet MS"/>
              </a:rPr>
              <a:t>Hands-on</a:t>
            </a:r>
            <a:r>
              <a:rPr sz="2400" spc="-145" dirty="0">
                <a:solidFill>
                  <a:srgbClr val="5CE0E6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5CE0E6"/>
                </a:solidFill>
                <a:latin typeface="Trebuchet MS"/>
                <a:cs typeface="Trebuchet MS"/>
              </a:rPr>
              <a:t>Training </a:t>
            </a:r>
            <a:r>
              <a:rPr sz="2400" dirty="0">
                <a:solidFill>
                  <a:srgbClr val="5CE0E6"/>
                </a:solidFill>
                <a:latin typeface="Trebuchet MS"/>
                <a:cs typeface="Trebuchet MS"/>
              </a:rPr>
              <a:t>in</a:t>
            </a:r>
            <a:r>
              <a:rPr sz="2400" spc="-65" dirty="0">
                <a:solidFill>
                  <a:srgbClr val="5CE0E6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5CE0E6"/>
                </a:solidFill>
                <a:latin typeface="Trebuchet MS"/>
                <a:cs typeface="Trebuchet MS"/>
              </a:rPr>
              <a:t>Django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87392" y="4859528"/>
            <a:ext cx="2916555" cy="73314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spc="-10" dirty="0">
                <a:solidFill>
                  <a:srgbClr val="49AEF9"/>
                </a:solidFill>
                <a:latin typeface="Trebuchet MS"/>
                <a:cs typeface="Trebuchet MS"/>
              </a:rPr>
              <a:t>Inventory </a:t>
            </a:r>
            <a:r>
              <a:rPr sz="2400" spc="50" dirty="0">
                <a:solidFill>
                  <a:srgbClr val="49AEF9"/>
                </a:solidFill>
                <a:latin typeface="Trebuchet MS"/>
                <a:cs typeface="Trebuchet MS"/>
              </a:rPr>
              <a:t>Management</a:t>
            </a:r>
            <a:r>
              <a:rPr sz="2400" spc="-165" dirty="0">
                <a:solidFill>
                  <a:srgbClr val="49AEF9"/>
                </a:solidFill>
                <a:latin typeface="Trebuchet MS"/>
                <a:cs typeface="Trebuchet MS"/>
              </a:rPr>
              <a:t> </a:t>
            </a:r>
            <a:r>
              <a:rPr sz="2400" spc="50" dirty="0">
                <a:solidFill>
                  <a:srgbClr val="49AEF9"/>
                </a:solidFill>
                <a:latin typeface="Trebuchet MS"/>
                <a:cs typeface="Trebuchet MS"/>
              </a:rPr>
              <a:t>System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07751" y="4854955"/>
            <a:ext cx="2560320" cy="36009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217804">
              <a:lnSpc>
                <a:spcPct val="100800"/>
              </a:lnSpc>
              <a:spcBef>
                <a:spcPts val="75"/>
              </a:spcBef>
            </a:pPr>
            <a:r>
              <a:rPr lang="en-IN" sz="2400" spc="65" dirty="0">
                <a:solidFill>
                  <a:srgbClr val="49AEF9"/>
                </a:solidFill>
                <a:latin typeface="Trebuchet MS"/>
                <a:cs typeface="Trebuchet MS"/>
              </a:rPr>
              <a:t>Reports Section</a:t>
            </a:r>
            <a:endParaRPr lang="en-IN" sz="2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58202" y="5027803"/>
            <a:ext cx="17932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5CE0E6"/>
                </a:solidFill>
                <a:latin typeface="Trebuchet MS"/>
                <a:cs typeface="Trebuchet MS"/>
              </a:rPr>
              <a:t>Smartcollect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440939" y="909574"/>
            <a:ext cx="5023485" cy="2616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8500" spc="80" dirty="0"/>
              <a:t>Internship </a:t>
            </a:r>
            <a:r>
              <a:rPr sz="8500" spc="-10" dirty="0"/>
              <a:t>Overview</a:t>
            </a:r>
            <a:endParaRPr sz="8500"/>
          </a:p>
        </p:txBody>
      </p:sp>
      <p:grpSp>
        <p:nvGrpSpPr>
          <p:cNvPr id="11" name="object 11"/>
          <p:cNvGrpSpPr/>
          <p:nvPr/>
        </p:nvGrpSpPr>
        <p:grpSpPr>
          <a:xfrm>
            <a:off x="13243940" y="0"/>
            <a:ext cx="5044440" cy="5266690"/>
            <a:chOff x="13243940" y="0"/>
            <a:chExt cx="5044440" cy="5266690"/>
          </a:xfrm>
        </p:grpSpPr>
        <p:sp>
          <p:nvSpPr>
            <p:cNvPr id="12" name="object 12"/>
            <p:cNvSpPr/>
            <p:nvPr/>
          </p:nvSpPr>
          <p:spPr>
            <a:xfrm>
              <a:off x="16799051" y="2687827"/>
              <a:ext cx="1489075" cy="2579370"/>
            </a:xfrm>
            <a:custGeom>
              <a:avLst/>
              <a:gdLst/>
              <a:ahLst/>
              <a:cxnLst/>
              <a:rect l="l" t="t" r="r" b="b"/>
              <a:pathLst>
                <a:path w="1489075" h="2579370">
                  <a:moveTo>
                    <a:pt x="1488948" y="0"/>
                  </a:moveTo>
                  <a:lnTo>
                    <a:pt x="744474" y="0"/>
                  </a:lnTo>
                  <a:lnTo>
                    <a:pt x="0" y="1289431"/>
                  </a:lnTo>
                  <a:lnTo>
                    <a:pt x="744474" y="2578862"/>
                  </a:lnTo>
                  <a:lnTo>
                    <a:pt x="1488948" y="2578862"/>
                  </a:lnTo>
                  <a:lnTo>
                    <a:pt x="1488948" y="0"/>
                  </a:lnTo>
                  <a:close/>
                </a:path>
              </a:pathLst>
            </a:custGeom>
            <a:solidFill>
              <a:srgbClr val="1242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660119" y="0"/>
              <a:ext cx="4201795" cy="3503295"/>
            </a:xfrm>
            <a:custGeom>
              <a:avLst/>
              <a:gdLst/>
              <a:ahLst/>
              <a:cxnLst/>
              <a:rect l="l" t="t" r="r" b="b"/>
              <a:pathLst>
                <a:path w="4201794" h="3503295">
                  <a:moveTo>
                    <a:pt x="3229100" y="0"/>
                  </a:moveTo>
                  <a:lnTo>
                    <a:pt x="972205" y="0"/>
                  </a:lnTo>
                  <a:lnTo>
                    <a:pt x="0" y="1684020"/>
                  </a:lnTo>
                  <a:lnTo>
                    <a:pt x="1050290" y="3503295"/>
                  </a:lnTo>
                  <a:lnTo>
                    <a:pt x="3151124" y="3503295"/>
                  </a:lnTo>
                  <a:lnTo>
                    <a:pt x="4201541" y="1684020"/>
                  </a:lnTo>
                  <a:lnTo>
                    <a:pt x="3229100" y="0"/>
                  </a:lnTo>
                  <a:close/>
                </a:path>
              </a:pathLst>
            </a:custGeom>
            <a:solidFill>
              <a:srgbClr val="49A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243940" y="0"/>
              <a:ext cx="2481580" cy="1193165"/>
            </a:xfrm>
            <a:custGeom>
              <a:avLst/>
              <a:gdLst/>
              <a:ahLst/>
              <a:cxnLst/>
              <a:rect l="l" t="t" r="r" b="b"/>
              <a:pathLst>
                <a:path w="2481580" h="1193165">
                  <a:moveTo>
                    <a:pt x="2413053" y="0"/>
                  </a:moveTo>
                  <a:lnTo>
                    <a:pt x="68258" y="0"/>
                  </a:lnTo>
                  <a:lnTo>
                    <a:pt x="0" y="118236"/>
                  </a:lnTo>
                  <a:lnTo>
                    <a:pt x="620268" y="1192783"/>
                  </a:lnTo>
                  <a:lnTo>
                    <a:pt x="1861057" y="1192783"/>
                  </a:lnTo>
                  <a:lnTo>
                    <a:pt x="2481326" y="118236"/>
                  </a:lnTo>
                  <a:lnTo>
                    <a:pt x="2413053" y="0"/>
                  </a:lnTo>
                  <a:close/>
                </a:path>
              </a:pathLst>
            </a:custGeom>
            <a:solidFill>
              <a:srgbClr val="5CE0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882878" y="4845177"/>
            <a:ext cx="2636520" cy="36009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419100">
              <a:lnSpc>
                <a:spcPct val="100800"/>
              </a:lnSpc>
              <a:spcBef>
                <a:spcPts val="75"/>
              </a:spcBef>
            </a:pPr>
            <a:r>
              <a:rPr lang="en-IN" sz="2400" dirty="0">
                <a:solidFill>
                  <a:srgbClr val="5CE0E6"/>
                </a:solidFill>
                <a:latin typeface="Trebuchet MS"/>
                <a:cs typeface="Trebuchet MS"/>
              </a:rPr>
              <a:t>Sakhi</a:t>
            </a:r>
            <a:r>
              <a:rPr sz="2400" spc="105" dirty="0">
                <a:solidFill>
                  <a:srgbClr val="5CE0E6"/>
                </a:solidFill>
                <a:latin typeface="Trebuchet MS"/>
                <a:cs typeface="Trebuchet MS"/>
              </a:rPr>
              <a:t> </a:t>
            </a:r>
            <a:r>
              <a:rPr sz="2400" spc="25" dirty="0">
                <a:solidFill>
                  <a:srgbClr val="5CE0E6"/>
                </a:solidFill>
                <a:latin typeface="Trebuchet MS"/>
                <a:cs typeface="Trebuchet MS"/>
              </a:rPr>
              <a:t>App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26502" y="1858780"/>
            <a:ext cx="3254375" cy="1511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sz="2800" dirty="0">
                <a:latin typeface="Trebuchet MS"/>
                <a:cs typeface="Trebuchet MS"/>
              </a:rPr>
              <a:t>Full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Stack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Developer </a:t>
            </a:r>
            <a:r>
              <a:rPr sz="2800" dirty="0">
                <a:latin typeface="Trebuchet MS"/>
                <a:cs typeface="Trebuchet MS"/>
              </a:rPr>
              <a:t>Django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Developer </a:t>
            </a:r>
            <a:r>
              <a:rPr sz="2800" spc="-20" dirty="0">
                <a:latin typeface="Trebuchet MS"/>
                <a:cs typeface="Trebuchet MS"/>
              </a:rPr>
              <a:t>React</a:t>
            </a:r>
            <a:r>
              <a:rPr sz="2800" spc="-17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Developer</a:t>
            </a:r>
            <a:endParaRPr sz="2800" dirty="0">
              <a:latin typeface="Trebuchet MS"/>
              <a:cs typeface="Trebuchet M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9FB8F7-3908-D67D-431F-C7BDBE6C85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42900"/>
            <a:ext cx="945531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243940" y="0"/>
            <a:ext cx="5044440" cy="5266690"/>
            <a:chOff x="13243940" y="0"/>
            <a:chExt cx="5044440" cy="5266690"/>
          </a:xfrm>
        </p:grpSpPr>
        <p:sp>
          <p:nvSpPr>
            <p:cNvPr id="3" name="object 3"/>
            <p:cNvSpPr/>
            <p:nvPr/>
          </p:nvSpPr>
          <p:spPr>
            <a:xfrm>
              <a:off x="16799051" y="2687827"/>
              <a:ext cx="1489075" cy="2579370"/>
            </a:xfrm>
            <a:custGeom>
              <a:avLst/>
              <a:gdLst/>
              <a:ahLst/>
              <a:cxnLst/>
              <a:rect l="l" t="t" r="r" b="b"/>
              <a:pathLst>
                <a:path w="1489075" h="2579370">
                  <a:moveTo>
                    <a:pt x="1488948" y="0"/>
                  </a:moveTo>
                  <a:lnTo>
                    <a:pt x="744474" y="0"/>
                  </a:lnTo>
                  <a:lnTo>
                    <a:pt x="0" y="1289431"/>
                  </a:lnTo>
                  <a:lnTo>
                    <a:pt x="744474" y="2578862"/>
                  </a:lnTo>
                  <a:lnTo>
                    <a:pt x="1488948" y="2578862"/>
                  </a:lnTo>
                  <a:lnTo>
                    <a:pt x="1488948" y="0"/>
                  </a:lnTo>
                  <a:close/>
                </a:path>
              </a:pathLst>
            </a:custGeom>
            <a:solidFill>
              <a:srgbClr val="1242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660119" y="0"/>
              <a:ext cx="4201795" cy="3503295"/>
            </a:xfrm>
            <a:custGeom>
              <a:avLst/>
              <a:gdLst/>
              <a:ahLst/>
              <a:cxnLst/>
              <a:rect l="l" t="t" r="r" b="b"/>
              <a:pathLst>
                <a:path w="4201794" h="3503295">
                  <a:moveTo>
                    <a:pt x="3229100" y="0"/>
                  </a:moveTo>
                  <a:lnTo>
                    <a:pt x="972205" y="0"/>
                  </a:lnTo>
                  <a:lnTo>
                    <a:pt x="0" y="1684020"/>
                  </a:lnTo>
                  <a:lnTo>
                    <a:pt x="1050290" y="3503295"/>
                  </a:lnTo>
                  <a:lnTo>
                    <a:pt x="3151124" y="3503295"/>
                  </a:lnTo>
                  <a:lnTo>
                    <a:pt x="4201541" y="1684020"/>
                  </a:lnTo>
                  <a:lnTo>
                    <a:pt x="3229100" y="0"/>
                  </a:lnTo>
                  <a:close/>
                </a:path>
              </a:pathLst>
            </a:custGeom>
            <a:solidFill>
              <a:srgbClr val="49A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243940" y="0"/>
              <a:ext cx="2481580" cy="1193165"/>
            </a:xfrm>
            <a:custGeom>
              <a:avLst/>
              <a:gdLst/>
              <a:ahLst/>
              <a:cxnLst/>
              <a:rect l="l" t="t" r="r" b="b"/>
              <a:pathLst>
                <a:path w="2481580" h="1193165">
                  <a:moveTo>
                    <a:pt x="2413053" y="0"/>
                  </a:moveTo>
                  <a:lnTo>
                    <a:pt x="68258" y="0"/>
                  </a:lnTo>
                  <a:lnTo>
                    <a:pt x="0" y="118236"/>
                  </a:lnTo>
                  <a:lnTo>
                    <a:pt x="620268" y="1192783"/>
                  </a:lnTo>
                  <a:lnTo>
                    <a:pt x="1861057" y="1192783"/>
                  </a:lnTo>
                  <a:lnTo>
                    <a:pt x="2481326" y="118236"/>
                  </a:lnTo>
                  <a:lnTo>
                    <a:pt x="2413053" y="0"/>
                  </a:lnTo>
                  <a:close/>
                </a:path>
              </a:pathLst>
            </a:custGeom>
            <a:solidFill>
              <a:srgbClr val="5CE0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-2"/>
            <a:ext cx="5287899" cy="102870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5665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Project</a:t>
            </a:r>
            <a:r>
              <a:rPr spc="-440" dirty="0"/>
              <a:t> </a:t>
            </a:r>
            <a:r>
              <a:rPr spc="-770" dirty="0"/>
              <a:t>:</a:t>
            </a:r>
            <a:r>
              <a:rPr spc="-395" dirty="0"/>
              <a:t> </a:t>
            </a:r>
            <a:r>
              <a:rPr spc="-10" dirty="0"/>
              <a:t>SmartCollect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SmartCollect</a:t>
            </a:r>
          </a:p>
          <a:p>
            <a:pPr marL="12700" marR="849630" indent="914400">
              <a:lnSpc>
                <a:spcPct val="112000"/>
              </a:lnSpc>
              <a:spcBef>
                <a:spcPts val="1830"/>
              </a:spcBef>
            </a:pPr>
            <a:r>
              <a:rPr sz="2000" spc="-10" dirty="0"/>
              <a:t>AI-</a:t>
            </a:r>
            <a:r>
              <a:rPr sz="2000" dirty="0"/>
              <a:t>powered</a:t>
            </a:r>
            <a:r>
              <a:rPr sz="2000" spc="-60" dirty="0"/>
              <a:t> </a:t>
            </a:r>
            <a:r>
              <a:rPr sz="2000" dirty="0"/>
              <a:t>debt</a:t>
            </a:r>
            <a:r>
              <a:rPr sz="2000" spc="-30" dirty="0"/>
              <a:t> </a:t>
            </a:r>
            <a:r>
              <a:rPr sz="2000" dirty="0"/>
              <a:t>recovery</a:t>
            </a:r>
            <a:r>
              <a:rPr sz="2000" spc="-25" dirty="0"/>
              <a:t> </a:t>
            </a:r>
            <a:r>
              <a:rPr sz="2000" dirty="0"/>
              <a:t>and</a:t>
            </a:r>
            <a:r>
              <a:rPr sz="2000" spc="-30" dirty="0"/>
              <a:t> </a:t>
            </a:r>
            <a:r>
              <a:rPr sz="2000" dirty="0"/>
              <a:t>collections</a:t>
            </a:r>
            <a:r>
              <a:rPr sz="2000" spc="-55" dirty="0"/>
              <a:t> </a:t>
            </a:r>
            <a:r>
              <a:rPr sz="2000" dirty="0"/>
              <a:t>platform</a:t>
            </a:r>
            <a:r>
              <a:rPr sz="2000" spc="-45" dirty="0"/>
              <a:t> </a:t>
            </a:r>
            <a:r>
              <a:rPr sz="2000" b="0" dirty="0">
                <a:latin typeface="Arial MT"/>
                <a:cs typeface="Arial MT"/>
              </a:rPr>
              <a:t>for</a:t>
            </a:r>
            <a:r>
              <a:rPr sz="2000" b="0" spc="-30" dirty="0">
                <a:latin typeface="Arial MT"/>
                <a:cs typeface="Arial MT"/>
              </a:rPr>
              <a:t> </a:t>
            </a:r>
            <a:r>
              <a:rPr sz="2000" b="0" spc="-10" dirty="0">
                <a:latin typeface="Arial MT"/>
                <a:cs typeface="Arial MT"/>
              </a:rPr>
              <a:t>financial </a:t>
            </a:r>
            <a:r>
              <a:rPr sz="2000" b="0" dirty="0">
                <a:latin typeface="Arial MT"/>
                <a:cs typeface="Arial MT"/>
              </a:rPr>
              <a:t>institutions</a:t>
            </a:r>
            <a:r>
              <a:rPr sz="2000" b="0" spc="-4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to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manage</a:t>
            </a:r>
            <a:r>
              <a:rPr sz="2000" b="0" spc="-40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the</a:t>
            </a:r>
            <a:r>
              <a:rPr sz="2000" b="0" spc="-40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entire</a:t>
            </a:r>
            <a:r>
              <a:rPr sz="2000" b="0" spc="-4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collections</a:t>
            </a:r>
            <a:r>
              <a:rPr sz="2000" b="0" spc="-4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lifecycle</a:t>
            </a:r>
            <a:r>
              <a:rPr sz="2000" b="0" spc="-25" dirty="0">
                <a:latin typeface="Arial MT"/>
                <a:cs typeface="Arial MT"/>
              </a:rPr>
              <a:t> </a:t>
            </a:r>
            <a:r>
              <a:rPr sz="2000" b="0" spc="-10" dirty="0">
                <a:latin typeface="Arial MT"/>
                <a:cs typeface="Arial MT"/>
              </a:rPr>
              <a:t>efficiently.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ts val="2820"/>
              </a:lnSpc>
              <a:spcBef>
                <a:spcPts val="5"/>
              </a:spcBef>
            </a:pPr>
            <a:r>
              <a:rPr dirty="0"/>
              <a:t>Core</a:t>
            </a:r>
            <a:r>
              <a:rPr spc="-70" dirty="0"/>
              <a:t> </a:t>
            </a:r>
            <a:r>
              <a:rPr spc="-10" dirty="0"/>
              <a:t>Features:</a:t>
            </a:r>
          </a:p>
          <a:p>
            <a:pPr marL="469265" indent="-456565">
              <a:lnSpc>
                <a:spcPts val="33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/>
              <a:t>Automated</a:t>
            </a:r>
            <a:r>
              <a:rPr spc="-55" dirty="0"/>
              <a:t> </a:t>
            </a:r>
            <a:r>
              <a:rPr dirty="0"/>
              <a:t>Reminders</a:t>
            </a:r>
            <a:r>
              <a:rPr spc="-40" dirty="0"/>
              <a:t> </a:t>
            </a:r>
            <a:r>
              <a:rPr sz="2800" b="0" dirty="0">
                <a:latin typeface="Calibri"/>
                <a:cs typeface="Calibri"/>
              </a:rPr>
              <a:t>–</a:t>
            </a:r>
            <a:r>
              <a:rPr sz="2800" b="0" spc="-50" dirty="0">
                <a:latin typeface="Calibri"/>
                <a:cs typeface="Calibri"/>
              </a:rPr>
              <a:t> </a:t>
            </a:r>
            <a:r>
              <a:rPr sz="2000" b="0" dirty="0">
                <a:latin typeface="Arial MT"/>
                <a:cs typeface="Arial MT"/>
              </a:rPr>
              <a:t>SMS,</a:t>
            </a:r>
            <a:r>
              <a:rPr sz="2000" b="0" spc="-4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Email,</a:t>
            </a:r>
            <a:r>
              <a:rPr sz="2000" b="0" spc="-5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WhatsApp,</a:t>
            </a:r>
            <a:r>
              <a:rPr sz="2000" b="0" spc="-85" dirty="0">
                <a:latin typeface="Arial MT"/>
                <a:cs typeface="Arial MT"/>
              </a:rPr>
              <a:t> </a:t>
            </a:r>
            <a:r>
              <a:rPr sz="2000" b="0" spc="-20" dirty="0">
                <a:latin typeface="Arial MT"/>
                <a:cs typeface="Arial MT"/>
              </a:rPr>
              <a:t>IVR.</a:t>
            </a:r>
            <a:endParaRPr sz="20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/>
              <a:t>Multi-Channel</a:t>
            </a:r>
            <a:r>
              <a:rPr spc="-60" dirty="0"/>
              <a:t> </a:t>
            </a:r>
            <a:r>
              <a:rPr dirty="0"/>
              <a:t>Communication</a:t>
            </a:r>
            <a:r>
              <a:rPr spc="-35" dirty="0"/>
              <a:t> </a:t>
            </a:r>
            <a:r>
              <a:rPr sz="2800" b="0" dirty="0">
                <a:latin typeface="Calibri"/>
                <a:cs typeface="Calibri"/>
              </a:rPr>
              <a:t>–</a:t>
            </a:r>
            <a:r>
              <a:rPr sz="2800" b="0" spc="-25" dirty="0">
                <a:latin typeface="Calibri"/>
                <a:cs typeface="Calibri"/>
              </a:rPr>
              <a:t> </a:t>
            </a:r>
            <a:r>
              <a:rPr sz="2000" b="0" dirty="0">
                <a:latin typeface="Arial MT"/>
                <a:cs typeface="Arial MT"/>
              </a:rPr>
              <a:t>Engage</a:t>
            </a:r>
            <a:r>
              <a:rPr sz="2000" b="0" spc="-30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customers</a:t>
            </a:r>
            <a:r>
              <a:rPr sz="2000" b="0" spc="-70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on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spc="-10" dirty="0">
                <a:latin typeface="Arial MT"/>
                <a:cs typeface="Arial MT"/>
              </a:rPr>
              <a:t>preferred</a:t>
            </a:r>
            <a:endParaRPr sz="2000">
              <a:latin typeface="Arial MT"/>
              <a:cs typeface="Arial MT"/>
            </a:endParaRPr>
          </a:p>
          <a:p>
            <a:pPr marL="469900">
              <a:lnSpc>
                <a:spcPts val="2365"/>
              </a:lnSpc>
              <a:spcBef>
                <a:spcPts val="70"/>
              </a:spcBef>
            </a:pPr>
            <a:r>
              <a:rPr sz="2000" b="0" spc="-10" dirty="0">
                <a:latin typeface="Arial MT"/>
                <a:cs typeface="Arial MT"/>
              </a:rPr>
              <a:t>channels</a:t>
            </a:r>
            <a:r>
              <a:rPr sz="2000" b="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ts val="3325"/>
              </a:lnSpc>
              <a:buFont typeface="Arial MT"/>
              <a:buChar char="•"/>
              <a:tabLst>
                <a:tab pos="469265" algn="l"/>
              </a:tabLst>
            </a:pPr>
            <a:r>
              <a:rPr dirty="0"/>
              <a:t>Segmented</a:t>
            </a:r>
            <a:r>
              <a:rPr spc="-30" dirty="0"/>
              <a:t> </a:t>
            </a:r>
            <a:r>
              <a:rPr dirty="0"/>
              <a:t>Workflows</a:t>
            </a:r>
            <a:r>
              <a:rPr spc="-65" dirty="0"/>
              <a:t> </a:t>
            </a:r>
            <a:r>
              <a:rPr sz="2800" b="0" dirty="0">
                <a:latin typeface="Calibri"/>
                <a:cs typeface="Calibri"/>
              </a:rPr>
              <a:t>–</a:t>
            </a:r>
            <a:r>
              <a:rPr sz="2800" b="0" spc="-15" dirty="0">
                <a:latin typeface="Calibri"/>
                <a:cs typeface="Calibri"/>
              </a:rPr>
              <a:t> </a:t>
            </a:r>
            <a:r>
              <a:rPr sz="2000" b="0" dirty="0">
                <a:latin typeface="Arial MT"/>
                <a:cs typeface="Arial MT"/>
              </a:rPr>
              <a:t>Strategies</a:t>
            </a:r>
            <a:r>
              <a:rPr sz="2000" b="0" spc="-4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for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different</a:t>
            </a:r>
            <a:r>
              <a:rPr sz="2000" b="0" spc="-6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customer</a:t>
            </a:r>
            <a:r>
              <a:rPr sz="2000" b="0" spc="-55" dirty="0">
                <a:latin typeface="Arial MT"/>
                <a:cs typeface="Arial MT"/>
              </a:rPr>
              <a:t> </a:t>
            </a:r>
            <a:r>
              <a:rPr sz="2000" b="0" spc="-10" dirty="0">
                <a:latin typeface="Arial MT"/>
                <a:cs typeface="Arial MT"/>
              </a:rPr>
              <a:t>groups</a:t>
            </a:r>
            <a:r>
              <a:rPr b="0" spc="-10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469265" indent="-456565">
              <a:lnSpc>
                <a:spcPts val="2820"/>
              </a:lnSpc>
              <a:spcBef>
                <a:spcPts val="12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/>
              <a:t>Analytics</a:t>
            </a:r>
            <a:r>
              <a:rPr spc="-35" dirty="0"/>
              <a:t> </a:t>
            </a:r>
            <a:r>
              <a:rPr dirty="0"/>
              <a:t>&amp;</a:t>
            </a:r>
            <a:r>
              <a:rPr spc="-50" dirty="0"/>
              <a:t> </a:t>
            </a:r>
            <a:r>
              <a:rPr dirty="0"/>
              <a:t>Dashboards</a:t>
            </a:r>
            <a:r>
              <a:rPr spc="-30" dirty="0"/>
              <a:t> </a:t>
            </a:r>
            <a:r>
              <a:rPr sz="2000" b="0" dirty="0">
                <a:latin typeface="Calibri"/>
                <a:cs typeface="Calibri"/>
              </a:rPr>
              <a:t>–</a:t>
            </a:r>
            <a:r>
              <a:rPr sz="2000" b="0" spc="-35" dirty="0">
                <a:latin typeface="Calibri"/>
                <a:cs typeface="Calibri"/>
              </a:rPr>
              <a:t> </a:t>
            </a:r>
            <a:r>
              <a:rPr sz="2000" b="0" spc="-20" dirty="0">
                <a:latin typeface="Arial MT"/>
                <a:cs typeface="Arial MT"/>
              </a:rPr>
              <a:t>Real-</a:t>
            </a:r>
            <a:r>
              <a:rPr sz="2000" b="0" dirty="0">
                <a:latin typeface="Arial MT"/>
                <a:cs typeface="Arial MT"/>
              </a:rPr>
              <a:t>time</a:t>
            </a:r>
            <a:r>
              <a:rPr sz="2000" b="0" spc="-70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recovery</a:t>
            </a:r>
            <a:r>
              <a:rPr sz="2000" b="0" spc="-75" dirty="0">
                <a:latin typeface="Arial MT"/>
                <a:cs typeface="Arial MT"/>
              </a:rPr>
              <a:t> </a:t>
            </a:r>
            <a:r>
              <a:rPr sz="2000" b="0" spc="-10" dirty="0">
                <a:latin typeface="Arial MT"/>
                <a:cs typeface="Arial MT"/>
              </a:rPr>
              <a:t>insights</a:t>
            </a:r>
            <a:r>
              <a:rPr sz="2000" b="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ts val="33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/>
              <a:t>System</a:t>
            </a:r>
            <a:r>
              <a:rPr spc="10" dirty="0"/>
              <a:t> </a:t>
            </a:r>
            <a:r>
              <a:rPr dirty="0"/>
              <a:t>Integration</a:t>
            </a:r>
            <a:r>
              <a:rPr spc="-60" dirty="0"/>
              <a:t> </a:t>
            </a:r>
            <a:r>
              <a:rPr sz="2800" b="0" dirty="0">
                <a:latin typeface="Calibri"/>
                <a:cs typeface="Calibri"/>
              </a:rPr>
              <a:t>–</a:t>
            </a:r>
            <a:r>
              <a:rPr sz="2800" b="0" spc="-10" dirty="0">
                <a:latin typeface="Calibri"/>
                <a:cs typeface="Calibri"/>
              </a:rPr>
              <a:t> </a:t>
            </a:r>
            <a:r>
              <a:rPr sz="2000" b="0" dirty="0">
                <a:latin typeface="Arial MT"/>
                <a:cs typeface="Arial MT"/>
              </a:rPr>
              <a:t>Connects</a:t>
            </a:r>
            <a:r>
              <a:rPr sz="2000" b="0" spc="-6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with</a:t>
            </a:r>
            <a:r>
              <a:rPr sz="2000" b="0" spc="-2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loan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DB,</a:t>
            </a:r>
            <a:r>
              <a:rPr sz="2000" b="0" spc="-3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payment</a:t>
            </a:r>
            <a:r>
              <a:rPr sz="2000" b="0" spc="-4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gateways</a:t>
            </a:r>
            <a:r>
              <a:rPr b="0" dirty="0">
                <a:latin typeface="Arial MT"/>
                <a:cs typeface="Arial MT"/>
              </a:rPr>
              <a:t>,</a:t>
            </a:r>
            <a:r>
              <a:rPr b="0" spc="-7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client</a:t>
            </a:r>
            <a:endParaRPr sz="2000">
              <a:latin typeface="Arial MT"/>
              <a:cs typeface="Arial MT"/>
            </a:endParaRPr>
          </a:p>
          <a:p>
            <a:pPr marL="469900">
              <a:lnSpc>
                <a:spcPts val="3310"/>
              </a:lnSpc>
              <a:spcBef>
                <a:spcPts val="110"/>
              </a:spcBef>
            </a:pPr>
            <a:r>
              <a:rPr b="0" spc="-10" dirty="0">
                <a:latin typeface="Arial MT"/>
                <a:cs typeface="Arial MT"/>
              </a:rPr>
              <a:t>systems</a:t>
            </a:r>
            <a:r>
              <a:rPr sz="2800" b="0" spc="-10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 marL="469265" indent="-456565">
              <a:lnSpc>
                <a:spcPts val="3310"/>
              </a:lnSpc>
              <a:buFont typeface="Arial MT"/>
              <a:buChar char="•"/>
              <a:tabLst>
                <a:tab pos="469265" algn="l"/>
              </a:tabLst>
            </a:pPr>
            <a:r>
              <a:rPr spc="-10" dirty="0"/>
              <a:t>AI-</a:t>
            </a:r>
            <a:r>
              <a:rPr dirty="0"/>
              <a:t>Powered</a:t>
            </a:r>
            <a:r>
              <a:rPr spc="-70" dirty="0"/>
              <a:t> </a:t>
            </a:r>
            <a:r>
              <a:rPr dirty="0"/>
              <a:t>Decisions</a:t>
            </a:r>
            <a:r>
              <a:rPr spc="-20" dirty="0"/>
              <a:t> </a:t>
            </a:r>
            <a:r>
              <a:rPr sz="2800" b="0" dirty="0">
                <a:latin typeface="Calibri"/>
                <a:cs typeface="Calibri"/>
              </a:rPr>
              <a:t>–</a:t>
            </a:r>
            <a:r>
              <a:rPr sz="2800" b="0" spc="-15" dirty="0">
                <a:latin typeface="Calibri"/>
                <a:cs typeface="Calibri"/>
              </a:rPr>
              <a:t> </a:t>
            </a:r>
            <a:r>
              <a:rPr sz="2000" b="0" dirty="0">
                <a:latin typeface="Arial MT"/>
                <a:cs typeface="Arial MT"/>
              </a:rPr>
              <a:t>Smart</a:t>
            </a:r>
            <a:r>
              <a:rPr sz="2000" b="0" spc="-4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timing,</a:t>
            </a:r>
            <a:r>
              <a:rPr sz="2000" b="0" spc="-45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channel</a:t>
            </a:r>
            <a:r>
              <a:rPr sz="2000" b="0" spc="-50" dirty="0">
                <a:latin typeface="Arial MT"/>
                <a:cs typeface="Arial MT"/>
              </a:rPr>
              <a:t> </a:t>
            </a:r>
            <a:r>
              <a:rPr sz="2000" b="0" dirty="0">
                <a:latin typeface="Arial MT"/>
                <a:cs typeface="Arial MT"/>
              </a:rPr>
              <a:t>selection,</a:t>
            </a:r>
            <a:r>
              <a:rPr sz="2000" b="0" spc="-60" dirty="0">
                <a:latin typeface="Arial MT"/>
                <a:cs typeface="Arial MT"/>
              </a:rPr>
              <a:t> </a:t>
            </a:r>
            <a:r>
              <a:rPr sz="2000" b="0" spc="-10" dirty="0">
                <a:latin typeface="Arial MT"/>
                <a:cs typeface="Arial MT"/>
              </a:rPr>
              <a:t>escalations.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AI</a:t>
            </a:r>
            <a:r>
              <a:rPr spc="-430" dirty="0"/>
              <a:t> </a:t>
            </a:r>
            <a:r>
              <a:rPr spc="110" dirty="0"/>
              <a:t>Scrub</a:t>
            </a:r>
            <a:r>
              <a:rPr spc="-450" dirty="0"/>
              <a:t> </a:t>
            </a:r>
            <a:r>
              <a:rPr spc="75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243940" y="0"/>
            <a:ext cx="5044440" cy="5266690"/>
            <a:chOff x="13243940" y="0"/>
            <a:chExt cx="5044440" cy="5266690"/>
          </a:xfrm>
        </p:grpSpPr>
        <p:sp>
          <p:nvSpPr>
            <p:cNvPr id="4" name="object 4"/>
            <p:cNvSpPr/>
            <p:nvPr/>
          </p:nvSpPr>
          <p:spPr>
            <a:xfrm>
              <a:off x="16799051" y="2687827"/>
              <a:ext cx="1489075" cy="2579370"/>
            </a:xfrm>
            <a:custGeom>
              <a:avLst/>
              <a:gdLst/>
              <a:ahLst/>
              <a:cxnLst/>
              <a:rect l="l" t="t" r="r" b="b"/>
              <a:pathLst>
                <a:path w="1489075" h="2579370">
                  <a:moveTo>
                    <a:pt x="1488948" y="0"/>
                  </a:moveTo>
                  <a:lnTo>
                    <a:pt x="744474" y="0"/>
                  </a:lnTo>
                  <a:lnTo>
                    <a:pt x="0" y="1289431"/>
                  </a:lnTo>
                  <a:lnTo>
                    <a:pt x="744474" y="2578862"/>
                  </a:lnTo>
                  <a:lnTo>
                    <a:pt x="1488948" y="2578862"/>
                  </a:lnTo>
                  <a:lnTo>
                    <a:pt x="1488948" y="0"/>
                  </a:lnTo>
                  <a:close/>
                </a:path>
              </a:pathLst>
            </a:custGeom>
            <a:solidFill>
              <a:srgbClr val="1242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660119" y="0"/>
              <a:ext cx="4201795" cy="3503295"/>
            </a:xfrm>
            <a:custGeom>
              <a:avLst/>
              <a:gdLst/>
              <a:ahLst/>
              <a:cxnLst/>
              <a:rect l="l" t="t" r="r" b="b"/>
              <a:pathLst>
                <a:path w="4201794" h="3503295">
                  <a:moveTo>
                    <a:pt x="3229100" y="0"/>
                  </a:moveTo>
                  <a:lnTo>
                    <a:pt x="972205" y="0"/>
                  </a:lnTo>
                  <a:lnTo>
                    <a:pt x="0" y="1684020"/>
                  </a:lnTo>
                  <a:lnTo>
                    <a:pt x="1050290" y="3503295"/>
                  </a:lnTo>
                  <a:lnTo>
                    <a:pt x="3151124" y="3503295"/>
                  </a:lnTo>
                  <a:lnTo>
                    <a:pt x="4201541" y="1684020"/>
                  </a:lnTo>
                  <a:lnTo>
                    <a:pt x="3229100" y="0"/>
                  </a:lnTo>
                  <a:close/>
                </a:path>
              </a:pathLst>
            </a:custGeom>
            <a:solidFill>
              <a:srgbClr val="49A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243940" y="0"/>
              <a:ext cx="2481580" cy="1193165"/>
            </a:xfrm>
            <a:custGeom>
              <a:avLst/>
              <a:gdLst/>
              <a:ahLst/>
              <a:cxnLst/>
              <a:rect l="l" t="t" r="r" b="b"/>
              <a:pathLst>
                <a:path w="2481580" h="1193165">
                  <a:moveTo>
                    <a:pt x="2413053" y="0"/>
                  </a:moveTo>
                  <a:lnTo>
                    <a:pt x="68258" y="0"/>
                  </a:lnTo>
                  <a:lnTo>
                    <a:pt x="0" y="118236"/>
                  </a:lnTo>
                  <a:lnTo>
                    <a:pt x="620268" y="1192783"/>
                  </a:lnTo>
                  <a:lnTo>
                    <a:pt x="1861057" y="1192783"/>
                  </a:lnTo>
                  <a:lnTo>
                    <a:pt x="2481326" y="118236"/>
                  </a:lnTo>
                  <a:lnTo>
                    <a:pt x="2413053" y="0"/>
                  </a:lnTo>
                  <a:close/>
                </a:path>
              </a:pathLst>
            </a:custGeom>
            <a:solidFill>
              <a:srgbClr val="5CE0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413199"/>
            <a:ext cx="18287999" cy="87379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50644" y="2374139"/>
            <a:ext cx="10540365" cy="672592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455"/>
              </a:spcBef>
            </a:pPr>
            <a:r>
              <a:rPr sz="2400" b="1" spc="-10" dirty="0">
                <a:latin typeface="Arial"/>
                <a:cs typeface="Arial"/>
              </a:rPr>
              <a:t>Objective:</a:t>
            </a:r>
            <a:endParaRPr sz="2400">
              <a:latin typeface="Arial"/>
              <a:cs typeface="Arial"/>
            </a:endParaRPr>
          </a:p>
          <a:p>
            <a:pPr marL="971550">
              <a:lnSpc>
                <a:spcPct val="100000"/>
              </a:lnSpc>
              <a:spcBef>
                <a:spcPts val="305"/>
              </a:spcBef>
            </a:pPr>
            <a:r>
              <a:rPr sz="2000" spc="-1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classify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assess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customers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based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payment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behavior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bank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other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Arial"/>
                <a:cs typeface="Arial"/>
              </a:rPr>
              <a:t>Process: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00"/>
              </a:spcBef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conducted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"scrub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analysis"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comparing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last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payment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customers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926465" algn="l"/>
              </a:tabLst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our</a:t>
            </a:r>
            <a:r>
              <a:rPr sz="2000" dirty="0">
                <a:latin typeface="Arial MT"/>
                <a:cs typeface="Arial MT"/>
              </a:rPr>
              <a:t>	bank's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records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their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credit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reports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banks.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2400" b="1" dirty="0">
                <a:latin typeface="Arial"/>
                <a:cs typeface="Arial"/>
              </a:rPr>
              <a:t>Key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Classifications:</a:t>
            </a:r>
            <a:endParaRPr sz="2400">
              <a:latin typeface="Arial"/>
              <a:cs typeface="Arial"/>
            </a:endParaRPr>
          </a:p>
          <a:p>
            <a:pPr marL="812800" marR="165735" indent="-342900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812800" algn="l"/>
              </a:tabLst>
            </a:pPr>
            <a:r>
              <a:rPr sz="2000" b="1" dirty="0">
                <a:latin typeface="Arial"/>
                <a:cs typeface="Arial"/>
              </a:rPr>
              <a:t>Good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with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Us,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Paying Others: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These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customers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paying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also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good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standing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lenders.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lowest-</a:t>
            </a:r>
            <a:r>
              <a:rPr sz="2000" dirty="0">
                <a:latin typeface="Arial MT"/>
                <a:cs typeface="Arial MT"/>
              </a:rPr>
              <a:t>risk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segment.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8121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812165" algn="l"/>
              </a:tabLst>
            </a:pPr>
            <a:r>
              <a:rPr sz="2000" b="1" dirty="0">
                <a:latin typeface="Arial"/>
                <a:cs typeface="Arial"/>
              </a:rPr>
              <a:t>Good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with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Us,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Not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Paying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Others: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paying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defaulting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on</a:t>
            </a:r>
            <a:endParaRPr sz="2000">
              <a:latin typeface="Arial MT"/>
              <a:cs typeface="Arial MT"/>
            </a:endParaRPr>
          </a:p>
          <a:p>
            <a:pPr marL="8128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payments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lenders.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early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warning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sign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potential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financial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distress.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 MT"/>
              <a:cs typeface="Arial MT"/>
            </a:endParaRPr>
          </a:p>
          <a:p>
            <a:pPr marL="812800" marR="52705" indent="-342900">
              <a:lnSpc>
                <a:spcPct val="100000"/>
              </a:lnSpc>
              <a:buFont typeface="Arial MT"/>
              <a:buChar char="•"/>
              <a:tabLst>
                <a:tab pos="812800" algn="l"/>
              </a:tabLst>
            </a:pPr>
            <a:r>
              <a:rPr sz="2000" b="1" dirty="0">
                <a:latin typeface="Arial"/>
                <a:cs typeface="Arial"/>
              </a:rPr>
              <a:t>Default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with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Us,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Paying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Others: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These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customers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defaulting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their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payments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bank,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despite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paying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their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others.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immediate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attention</a:t>
            </a:r>
            <a:r>
              <a:rPr sz="2000" spc="-25" dirty="0">
                <a:latin typeface="Arial MT"/>
                <a:cs typeface="Arial MT"/>
              </a:rPr>
              <a:t> and </a:t>
            </a:r>
            <a:r>
              <a:rPr sz="2000" spc="-10" dirty="0">
                <a:latin typeface="Arial MT"/>
                <a:cs typeface="Arial MT"/>
              </a:rPr>
              <a:t>investigation.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812165" indent="-342265">
              <a:lnSpc>
                <a:spcPct val="100000"/>
              </a:lnSpc>
              <a:buFont typeface="Arial MT"/>
              <a:buChar char="•"/>
              <a:tabLst>
                <a:tab pos="812165" algn="l"/>
              </a:tabLst>
            </a:pPr>
            <a:r>
              <a:rPr sz="2000" b="1" dirty="0">
                <a:latin typeface="Arial"/>
                <a:cs typeface="Arial"/>
              </a:rPr>
              <a:t>Default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with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Us,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Not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Paying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Others: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group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represents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highest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risk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segment,</a:t>
            </a:r>
            <a:endParaRPr sz="2000">
              <a:latin typeface="Arial MT"/>
              <a:cs typeface="Arial MT"/>
            </a:endParaRPr>
          </a:p>
          <a:p>
            <a:pPr marL="8128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defaulting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their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payments.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customers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top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priority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for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934D5C-BBA2-0DE5-9EE7-2D61F35EC4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42900"/>
            <a:ext cx="945531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Risk</a:t>
            </a:r>
            <a:r>
              <a:rPr spc="-390" dirty="0"/>
              <a:t> </a:t>
            </a:r>
            <a:r>
              <a:rPr spc="-25" dirty="0"/>
              <a:t>Categorization</a:t>
            </a:r>
            <a:r>
              <a:rPr spc="-405" dirty="0"/>
              <a:t> </a:t>
            </a:r>
            <a:r>
              <a:rPr spc="210" dirty="0"/>
              <a:t>&amp;</a:t>
            </a:r>
            <a:r>
              <a:rPr spc="-375" dirty="0"/>
              <a:t> </a:t>
            </a:r>
            <a:r>
              <a:rPr spc="50" dirty="0"/>
              <a:t>Inquiry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243940" y="0"/>
            <a:ext cx="5044440" cy="5266690"/>
            <a:chOff x="13243940" y="0"/>
            <a:chExt cx="5044440" cy="5266690"/>
          </a:xfrm>
        </p:grpSpPr>
        <p:sp>
          <p:nvSpPr>
            <p:cNvPr id="4" name="object 4"/>
            <p:cNvSpPr/>
            <p:nvPr/>
          </p:nvSpPr>
          <p:spPr>
            <a:xfrm>
              <a:off x="16799051" y="2687827"/>
              <a:ext cx="1489075" cy="2579370"/>
            </a:xfrm>
            <a:custGeom>
              <a:avLst/>
              <a:gdLst/>
              <a:ahLst/>
              <a:cxnLst/>
              <a:rect l="l" t="t" r="r" b="b"/>
              <a:pathLst>
                <a:path w="1489075" h="2579370">
                  <a:moveTo>
                    <a:pt x="1488948" y="0"/>
                  </a:moveTo>
                  <a:lnTo>
                    <a:pt x="744474" y="0"/>
                  </a:lnTo>
                  <a:lnTo>
                    <a:pt x="0" y="1289431"/>
                  </a:lnTo>
                  <a:lnTo>
                    <a:pt x="744474" y="2578862"/>
                  </a:lnTo>
                  <a:lnTo>
                    <a:pt x="1488948" y="2578862"/>
                  </a:lnTo>
                  <a:lnTo>
                    <a:pt x="1488948" y="0"/>
                  </a:lnTo>
                  <a:close/>
                </a:path>
              </a:pathLst>
            </a:custGeom>
            <a:solidFill>
              <a:srgbClr val="1242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660119" y="0"/>
              <a:ext cx="4201795" cy="3503295"/>
            </a:xfrm>
            <a:custGeom>
              <a:avLst/>
              <a:gdLst/>
              <a:ahLst/>
              <a:cxnLst/>
              <a:rect l="l" t="t" r="r" b="b"/>
              <a:pathLst>
                <a:path w="4201794" h="3503295">
                  <a:moveTo>
                    <a:pt x="3229100" y="0"/>
                  </a:moveTo>
                  <a:lnTo>
                    <a:pt x="972205" y="0"/>
                  </a:lnTo>
                  <a:lnTo>
                    <a:pt x="0" y="1684020"/>
                  </a:lnTo>
                  <a:lnTo>
                    <a:pt x="1050290" y="3503295"/>
                  </a:lnTo>
                  <a:lnTo>
                    <a:pt x="3151124" y="3503295"/>
                  </a:lnTo>
                  <a:lnTo>
                    <a:pt x="4201541" y="1684020"/>
                  </a:lnTo>
                  <a:lnTo>
                    <a:pt x="3229100" y="0"/>
                  </a:lnTo>
                  <a:close/>
                </a:path>
              </a:pathLst>
            </a:custGeom>
            <a:solidFill>
              <a:srgbClr val="49A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243940" y="0"/>
              <a:ext cx="2481580" cy="1193165"/>
            </a:xfrm>
            <a:custGeom>
              <a:avLst/>
              <a:gdLst/>
              <a:ahLst/>
              <a:cxnLst/>
              <a:rect l="l" t="t" r="r" b="b"/>
              <a:pathLst>
                <a:path w="2481580" h="1193165">
                  <a:moveTo>
                    <a:pt x="2413053" y="0"/>
                  </a:moveTo>
                  <a:lnTo>
                    <a:pt x="68258" y="0"/>
                  </a:lnTo>
                  <a:lnTo>
                    <a:pt x="0" y="118236"/>
                  </a:lnTo>
                  <a:lnTo>
                    <a:pt x="620268" y="1192783"/>
                  </a:lnTo>
                  <a:lnTo>
                    <a:pt x="1861057" y="1192783"/>
                  </a:lnTo>
                  <a:lnTo>
                    <a:pt x="2481326" y="118236"/>
                  </a:lnTo>
                  <a:lnTo>
                    <a:pt x="2413053" y="0"/>
                  </a:lnTo>
                  <a:close/>
                </a:path>
              </a:pathLst>
            </a:custGeom>
            <a:solidFill>
              <a:srgbClr val="5CE0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334496"/>
            <a:ext cx="18287999" cy="9525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94841" y="2419350"/>
            <a:ext cx="10987405" cy="5459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Objective:</a:t>
            </a:r>
            <a:endParaRPr sz="24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739"/>
              </a:spcBef>
            </a:pPr>
            <a:r>
              <a:rPr sz="2000" spc="-105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provide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deeper,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data-</a:t>
            </a:r>
            <a:r>
              <a:rPr sz="2000" dirty="0">
                <a:latin typeface="Arial MT"/>
                <a:cs typeface="Arial MT"/>
              </a:rPr>
              <a:t>driven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view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risk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Days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Past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(DPD)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inquiry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latin typeface="Arial MT"/>
                <a:cs typeface="Arial MT"/>
              </a:rPr>
              <a:t>data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25" dirty="0">
                <a:latin typeface="Arial"/>
                <a:cs typeface="Arial"/>
              </a:rPr>
              <a:t>DPD-</a:t>
            </a:r>
            <a:r>
              <a:rPr sz="2400" b="1" dirty="0">
                <a:latin typeface="Arial"/>
                <a:cs typeface="Arial"/>
              </a:rPr>
              <a:t>Based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Risk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Categorization:</a:t>
            </a:r>
            <a:endParaRPr sz="24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565"/>
              </a:spcBef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categorized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portfolio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four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risk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tiers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DPD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range.</a:t>
            </a:r>
            <a:endParaRPr sz="2000" dirty="0">
              <a:latin typeface="Calibri"/>
              <a:cs typeface="Calibri"/>
            </a:endParaRPr>
          </a:p>
          <a:p>
            <a:pPr marL="1293495" indent="-3429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1293495" algn="l"/>
              </a:tabLst>
            </a:pPr>
            <a:r>
              <a:rPr sz="2400" b="1" dirty="0">
                <a:latin typeface="Arial"/>
                <a:cs typeface="Arial"/>
              </a:rPr>
              <a:t>Low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Risk</a:t>
            </a:r>
            <a:r>
              <a:rPr sz="1800" b="1" dirty="0">
                <a:latin typeface="Arial"/>
                <a:cs typeface="Arial"/>
              </a:rPr>
              <a:t>: </a:t>
            </a:r>
            <a:r>
              <a:rPr sz="2000" dirty="0">
                <a:latin typeface="Arial MT"/>
                <a:cs typeface="Arial MT"/>
              </a:rPr>
              <a:t>DPD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0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days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(Current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accounts).</a:t>
            </a:r>
            <a:endParaRPr sz="2000" dirty="0">
              <a:latin typeface="Arial MT"/>
              <a:cs typeface="Arial MT"/>
            </a:endParaRPr>
          </a:p>
          <a:p>
            <a:pPr marL="1293495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293495" algn="l"/>
              </a:tabLst>
            </a:pPr>
            <a:r>
              <a:rPr sz="2400" b="1" dirty="0">
                <a:latin typeface="Arial"/>
                <a:cs typeface="Arial"/>
              </a:rPr>
              <a:t>Low-Medium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Risk: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Customers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DPD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30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days.</a:t>
            </a:r>
            <a:endParaRPr sz="2000" dirty="0">
              <a:latin typeface="Arial MT"/>
              <a:cs typeface="Arial MT"/>
            </a:endParaRPr>
          </a:p>
          <a:p>
            <a:pPr marL="1293495" indent="-342900">
              <a:lnSpc>
                <a:spcPct val="100000"/>
              </a:lnSpc>
              <a:buFont typeface="Arial MT"/>
              <a:buChar char="•"/>
              <a:tabLst>
                <a:tab pos="1293495" algn="l"/>
              </a:tabLst>
            </a:pPr>
            <a:r>
              <a:rPr sz="2400" b="1" dirty="0">
                <a:latin typeface="Arial"/>
                <a:cs typeface="Arial"/>
              </a:rPr>
              <a:t>Medium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Risk: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Customers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DPD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31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90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dys.</a:t>
            </a:r>
            <a:endParaRPr sz="2000" dirty="0">
              <a:latin typeface="Arial MT"/>
              <a:cs typeface="Arial MT"/>
            </a:endParaRPr>
          </a:p>
          <a:p>
            <a:pPr marL="1293495" indent="-342900">
              <a:lnSpc>
                <a:spcPct val="100000"/>
              </a:lnSpc>
              <a:buFont typeface="Arial MT"/>
              <a:buChar char="•"/>
              <a:tabLst>
                <a:tab pos="1293495" algn="l"/>
              </a:tabLst>
            </a:pPr>
            <a:r>
              <a:rPr sz="2400" b="1" dirty="0">
                <a:latin typeface="Arial"/>
                <a:cs typeface="Arial"/>
              </a:rPr>
              <a:t>High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Risk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Customers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DPD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more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90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days.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2000" dirty="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Loan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Inquiry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Analysis</a:t>
            </a:r>
            <a:endParaRPr sz="2400" dirty="0">
              <a:latin typeface="Arial"/>
              <a:cs typeface="Arial"/>
            </a:endParaRPr>
          </a:p>
          <a:p>
            <a:pPr marL="17145" marR="1510030" indent="966469">
              <a:lnSpc>
                <a:spcPct val="100499"/>
              </a:lnSpc>
              <a:spcBef>
                <a:spcPts val="1240"/>
              </a:spcBef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analyzed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frequency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loan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inquiries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customers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made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banks.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832635-C8A3-7FA3-745F-E513D1ED27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42900"/>
            <a:ext cx="945531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266700"/>
            <a:ext cx="13206221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SNAPSHOTS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1" y="9639300"/>
            <a:ext cx="18287999" cy="9525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596630" y="-3238500"/>
            <a:ext cx="9665970" cy="8336915"/>
            <a:chOff x="8622156" y="0"/>
            <a:chExt cx="9665970" cy="8336915"/>
          </a:xfrm>
        </p:grpSpPr>
        <p:sp>
          <p:nvSpPr>
            <p:cNvPr id="5" name="object 5"/>
            <p:cNvSpPr/>
            <p:nvPr/>
          </p:nvSpPr>
          <p:spPr>
            <a:xfrm>
              <a:off x="16799051" y="2687827"/>
              <a:ext cx="1489075" cy="2579370"/>
            </a:xfrm>
            <a:custGeom>
              <a:avLst/>
              <a:gdLst/>
              <a:ahLst/>
              <a:cxnLst/>
              <a:rect l="l" t="t" r="r" b="b"/>
              <a:pathLst>
                <a:path w="1489075" h="2579370">
                  <a:moveTo>
                    <a:pt x="1488948" y="0"/>
                  </a:moveTo>
                  <a:lnTo>
                    <a:pt x="744474" y="0"/>
                  </a:lnTo>
                  <a:lnTo>
                    <a:pt x="0" y="1289431"/>
                  </a:lnTo>
                  <a:lnTo>
                    <a:pt x="744474" y="2578862"/>
                  </a:lnTo>
                  <a:lnTo>
                    <a:pt x="1488948" y="2578862"/>
                  </a:lnTo>
                  <a:lnTo>
                    <a:pt x="1488948" y="0"/>
                  </a:lnTo>
                  <a:close/>
                </a:path>
              </a:pathLst>
            </a:custGeom>
            <a:solidFill>
              <a:srgbClr val="1242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60119" y="0"/>
              <a:ext cx="4201795" cy="3503295"/>
            </a:xfrm>
            <a:custGeom>
              <a:avLst/>
              <a:gdLst/>
              <a:ahLst/>
              <a:cxnLst/>
              <a:rect l="l" t="t" r="r" b="b"/>
              <a:pathLst>
                <a:path w="4201794" h="3503295">
                  <a:moveTo>
                    <a:pt x="3229100" y="0"/>
                  </a:moveTo>
                  <a:lnTo>
                    <a:pt x="972205" y="0"/>
                  </a:lnTo>
                  <a:lnTo>
                    <a:pt x="0" y="1684020"/>
                  </a:lnTo>
                  <a:lnTo>
                    <a:pt x="1050290" y="3503295"/>
                  </a:lnTo>
                  <a:lnTo>
                    <a:pt x="3151124" y="3503295"/>
                  </a:lnTo>
                  <a:lnTo>
                    <a:pt x="4201541" y="1684020"/>
                  </a:lnTo>
                  <a:lnTo>
                    <a:pt x="3229100" y="0"/>
                  </a:lnTo>
                  <a:close/>
                </a:path>
              </a:pathLst>
            </a:custGeom>
            <a:solidFill>
              <a:srgbClr val="49A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243940" y="0"/>
              <a:ext cx="2481580" cy="1193165"/>
            </a:xfrm>
            <a:custGeom>
              <a:avLst/>
              <a:gdLst/>
              <a:ahLst/>
              <a:cxnLst/>
              <a:rect l="l" t="t" r="r" b="b"/>
              <a:pathLst>
                <a:path w="2481580" h="1193165">
                  <a:moveTo>
                    <a:pt x="2413053" y="0"/>
                  </a:moveTo>
                  <a:lnTo>
                    <a:pt x="68258" y="0"/>
                  </a:lnTo>
                  <a:lnTo>
                    <a:pt x="0" y="118236"/>
                  </a:lnTo>
                  <a:lnTo>
                    <a:pt x="620268" y="1192783"/>
                  </a:lnTo>
                  <a:lnTo>
                    <a:pt x="1861057" y="1192783"/>
                  </a:lnTo>
                  <a:lnTo>
                    <a:pt x="2481326" y="118236"/>
                  </a:lnTo>
                  <a:lnTo>
                    <a:pt x="2413053" y="0"/>
                  </a:lnTo>
                  <a:close/>
                </a:path>
              </a:pathLst>
            </a:custGeom>
            <a:solidFill>
              <a:srgbClr val="5CE0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2156" y="4406138"/>
              <a:ext cx="8397748" cy="393026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94841" y="4272533"/>
            <a:ext cx="901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8600" y="1333500"/>
            <a:ext cx="7745095" cy="39547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83E2935-2059-CB35-0E12-A287861D46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5448300"/>
            <a:ext cx="8229600" cy="40876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4004F4C-C92B-DC3B-F3CC-018C41BDA5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" y="5524500"/>
            <a:ext cx="7904265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E485C-3028-A21B-4CB4-C7D419F78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54BCCF-83F9-EA57-DBD0-3A0C07EECB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723900"/>
            <a:ext cx="13206221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S</a:t>
            </a:r>
            <a:r>
              <a:rPr lang="en-IN" spc="110" dirty="0" err="1"/>
              <a:t>akhi</a:t>
            </a:r>
            <a:r>
              <a:rPr lang="en-IN" spc="110" dirty="0"/>
              <a:t> App:-</a:t>
            </a:r>
            <a:endParaRPr spc="1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6BF6060-C07E-48C4-0D14-EF77993566D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1" y="9639300"/>
            <a:ext cx="18287999" cy="952500"/>
          </a:xfrm>
          <a:prstGeom prst="rect">
            <a:avLst/>
          </a:prstGeom>
        </p:spPr>
      </p:pic>
      <p:grpSp>
        <p:nvGrpSpPr>
          <p:cNvPr id="4" name="object 4">
            <a:extLst>
              <a:ext uri="{FF2B5EF4-FFF2-40B4-BE49-F238E27FC236}">
                <a16:creationId xmlns:a16="http://schemas.microsoft.com/office/drawing/2014/main" id="{319FB11B-E04F-6A44-67D7-C2E147F6D2E8}"/>
              </a:ext>
            </a:extLst>
          </p:cNvPr>
          <p:cNvGrpSpPr/>
          <p:nvPr/>
        </p:nvGrpSpPr>
        <p:grpSpPr>
          <a:xfrm>
            <a:off x="13243814" y="-38100"/>
            <a:ext cx="5044186" cy="5267197"/>
            <a:chOff x="13243940" y="0"/>
            <a:chExt cx="5044186" cy="5267197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53F48F1-3C9D-18BF-E93C-6F5E04295741}"/>
                </a:ext>
              </a:extLst>
            </p:cNvPr>
            <p:cNvSpPr/>
            <p:nvPr/>
          </p:nvSpPr>
          <p:spPr>
            <a:xfrm>
              <a:off x="16799051" y="2687827"/>
              <a:ext cx="1489075" cy="2579370"/>
            </a:xfrm>
            <a:custGeom>
              <a:avLst/>
              <a:gdLst/>
              <a:ahLst/>
              <a:cxnLst/>
              <a:rect l="l" t="t" r="r" b="b"/>
              <a:pathLst>
                <a:path w="1489075" h="2579370">
                  <a:moveTo>
                    <a:pt x="1488948" y="0"/>
                  </a:moveTo>
                  <a:lnTo>
                    <a:pt x="744474" y="0"/>
                  </a:lnTo>
                  <a:lnTo>
                    <a:pt x="0" y="1289431"/>
                  </a:lnTo>
                  <a:lnTo>
                    <a:pt x="744474" y="2578862"/>
                  </a:lnTo>
                  <a:lnTo>
                    <a:pt x="1488948" y="2578862"/>
                  </a:lnTo>
                  <a:lnTo>
                    <a:pt x="1488948" y="0"/>
                  </a:lnTo>
                  <a:close/>
                </a:path>
              </a:pathLst>
            </a:custGeom>
            <a:solidFill>
              <a:srgbClr val="1242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560174B-4E0B-25B8-121A-9952247D3923}"/>
                </a:ext>
              </a:extLst>
            </p:cNvPr>
            <p:cNvSpPr/>
            <p:nvPr/>
          </p:nvSpPr>
          <p:spPr>
            <a:xfrm>
              <a:off x="13660119" y="0"/>
              <a:ext cx="4201795" cy="3503295"/>
            </a:xfrm>
            <a:custGeom>
              <a:avLst/>
              <a:gdLst/>
              <a:ahLst/>
              <a:cxnLst/>
              <a:rect l="l" t="t" r="r" b="b"/>
              <a:pathLst>
                <a:path w="4201794" h="3503295">
                  <a:moveTo>
                    <a:pt x="3229100" y="0"/>
                  </a:moveTo>
                  <a:lnTo>
                    <a:pt x="972205" y="0"/>
                  </a:lnTo>
                  <a:lnTo>
                    <a:pt x="0" y="1684020"/>
                  </a:lnTo>
                  <a:lnTo>
                    <a:pt x="1050290" y="3503295"/>
                  </a:lnTo>
                  <a:lnTo>
                    <a:pt x="3151124" y="3503295"/>
                  </a:lnTo>
                  <a:lnTo>
                    <a:pt x="4201541" y="1684020"/>
                  </a:lnTo>
                  <a:lnTo>
                    <a:pt x="3229100" y="0"/>
                  </a:lnTo>
                  <a:close/>
                </a:path>
              </a:pathLst>
            </a:custGeom>
            <a:solidFill>
              <a:srgbClr val="49A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30ABE92D-17E2-41FE-6B93-3EA830DA6D3A}"/>
                </a:ext>
              </a:extLst>
            </p:cNvPr>
            <p:cNvSpPr/>
            <p:nvPr/>
          </p:nvSpPr>
          <p:spPr>
            <a:xfrm>
              <a:off x="13243940" y="0"/>
              <a:ext cx="2481580" cy="1193165"/>
            </a:xfrm>
            <a:custGeom>
              <a:avLst/>
              <a:gdLst/>
              <a:ahLst/>
              <a:cxnLst/>
              <a:rect l="l" t="t" r="r" b="b"/>
              <a:pathLst>
                <a:path w="2481580" h="1193165">
                  <a:moveTo>
                    <a:pt x="2413053" y="0"/>
                  </a:moveTo>
                  <a:lnTo>
                    <a:pt x="68258" y="0"/>
                  </a:lnTo>
                  <a:lnTo>
                    <a:pt x="0" y="118236"/>
                  </a:lnTo>
                  <a:lnTo>
                    <a:pt x="620268" y="1192783"/>
                  </a:lnTo>
                  <a:lnTo>
                    <a:pt x="1861057" y="1192783"/>
                  </a:lnTo>
                  <a:lnTo>
                    <a:pt x="2481326" y="118236"/>
                  </a:lnTo>
                  <a:lnTo>
                    <a:pt x="2413053" y="0"/>
                  </a:lnTo>
                  <a:close/>
                </a:path>
              </a:pathLst>
            </a:custGeom>
            <a:solidFill>
              <a:srgbClr val="5CE0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3C3E6C36-4D24-B593-D4F7-E6F1BFC5CF94}"/>
              </a:ext>
            </a:extLst>
          </p:cNvPr>
          <p:cNvSpPr txBox="1"/>
          <p:nvPr/>
        </p:nvSpPr>
        <p:spPr>
          <a:xfrm>
            <a:off x="1394841" y="4272533"/>
            <a:ext cx="901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53C4C9-8D41-7C7C-7B58-98E8BF3F7C07}"/>
              </a:ext>
            </a:extLst>
          </p:cNvPr>
          <p:cNvSpPr txBox="1"/>
          <p:nvPr/>
        </p:nvSpPr>
        <p:spPr>
          <a:xfrm>
            <a:off x="1066800" y="2171700"/>
            <a:ext cx="10541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Sonata Finance App is a digital financial platform designed to help users easily manage their loans, EMIs, and financial profile from one place. The app provides borrowers with a simple and transparent way to track loan progress, make payments, view offers, and access support services. It aims to make financial management convenient for users by offering real-time updates, secure transactions, and a user-friendly interface.</a:t>
            </a:r>
            <a:endParaRPr lang="en-IN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4FDB83-E541-A673-8A44-05B7C2CA2BF0}"/>
              </a:ext>
            </a:extLst>
          </p:cNvPr>
          <p:cNvSpPr txBox="1"/>
          <p:nvPr/>
        </p:nvSpPr>
        <p:spPr>
          <a:xfrm>
            <a:off x="838201" y="5295900"/>
            <a:ext cx="761999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1. EMI &amp; Loan Management</a:t>
            </a:r>
          </a:p>
          <a:p>
            <a:pPr marL="342900" lvl="6" indent="-342900">
              <a:buFont typeface="Arial" panose="020B0604020202020204" pitchFamily="34" charset="0"/>
              <a:buChar char="•"/>
            </a:pPr>
            <a:r>
              <a:rPr lang="en-US" sz="2400" dirty="0"/>
              <a:t>Display of active, closed, and pre-settlement loans</a:t>
            </a:r>
          </a:p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n-US" sz="2400" dirty="0"/>
              <a:t>Loan details with total amount, EMI value, due dates, and repayment percentage</a:t>
            </a:r>
          </a:p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n-US" sz="2400" dirty="0"/>
              <a:t>Progress bars to track payment completion</a:t>
            </a:r>
          </a:p>
          <a:p>
            <a:endParaRPr lang="en-US" sz="2400" dirty="0"/>
          </a:p>
          <a:p>
            <a:pPr>
              <a:buNone/>
            </a:pPr>
            <a:r>
              <a:rPr lang="en-US" sz="2400" b="1" dirty="0"/>
              <a:t>2. Home Dashboard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Total amount due and remaining EMIs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Quick service shortcuts (Benefits, Marketplace, Insurance,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Personalized loan offers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A013F9-0359-5BD2-DE5C-83D6229BBB92}"/>
              </a:ext>
            </a:extLst>
          </p:cNvPr>
          <p:cNvSpPr txBox="1"/>
          <p:nvPr/>
        </p:nvSpPr>
        <p:spPr>
          <a:xfrm>
            <a:off x="8839201" y="5219700"/>
            <a:ext cx="7924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3. Help &amp; Support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Direct support call option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Complaint filing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FAQ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AI-powered </a:t>
            </a:r>
            <a:r>
              <a:rPr lang="en-IN" sz="2400" b="1" dirty="0"/>
              <a:t>Sakhi Assistant</a:t>
            </a:r>
            <a:r>
              <a:rPr lang="en-IN" sz="2400" dirty="0"/>
              <a:t> chatbot for instant help</a:t>
            </a:r>
          </a:p>
          <a:p>
            <a:endParaRPr lang="en-IN" sz="2400" dirty="0"/>
          </a:p>
          <a:p>
            <a:pPr>
              <a:buNone/>
            </a:pPr>
            <a:r>
              <a:rPr lang="en-IN" sz="2400" b="1" dirty="0"/>
              <a:t>4. Profile &amp; Settings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User profile completion tracker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Tier progress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WhatsApp &amp; Email verification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Language &amp; theme settings, notifications toggle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EEA8C6A-8FD6-11E0-85AF-A12F2AA375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66700"/>
            <a:ext cx="945531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8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E9789-A33D-397C-1254-C105641B2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F09232-4F84-EB77-0BBD-18C28419CB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571500"/>
            <a:ext cx="13206221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110" dirty="0"/>
              <a:t>SNAPSHOTS:-</a:t>
            </a:r>
            <a:endParaRPr spc="11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0736BAE-5E0B-0B1A-685A-FAB571A5E51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1" y="9639300"/>
            <a:ext cx="18287999" cy="952500"/>
          </a:xfrm>
          <a:prstGeom prst="rect">
            <a:avLst/>
          </a:prstGeom>
        </p:spPr>
      </p:pic>
      <p:grpSp>
        <p:nvGrpSpPr>
          <p:cNvPr id="4" name="object 4">
            <a:extLst>
              <a:ext uri="{FF2B5EF4-FFF2-40B4-BE49-F238E27FC236}">
                <a16:creationId xmlns:a16="http://schemas.microsoft.com/office/drawing/2014/main" id="{466FAADE-E7A4-FA5E-B972-5EA07478A83D}"/>
              </a:ext>
            </a:extLst>
          </p:cNvPr>
          <p:cNvGrpSpPr/>
          <p:nvPr/>
        </p:nvGrpSpPr>
        <p:grpSpPr>
          <a:xfrm>
            <a:off x="14020800" y="-1714500"/>
            <a:ext cx="5044186" cy="5267197"/>
            <a:chOff x="13243940" y="0"/>
            <a:chExt cx="5044186" cy="5267197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C280A9-618E-1D2A-8593-9956845CBBD9}"/>
                </a:ext>
              </a:extLst>
            </p:cNvPr>
            <p:cNvSpPr/>
            <p:nvPr/>
          </p:nvSpPr>
          <p:spPr>
            <a:xfrm>
              <a:off x="16799051" y="2687827"/>
              <a:ext cx="1489075" cy="2579370"/>
            </a:xfrm>
            <a:custGeom>
              <a:avLst/>
              <a:gdLst/>
              <a:ahLst/>
              <a:cxnLst/>
              <a:rect l="l" t="t" r="r" b="b"/>
              <a:pathLst>
                <a:path w="1489075" h="2579370">
                  <a:moveTo>
                    <a:pt x="1488948" y="0"/>
                  </a:moveTo>
                  <a:lnTo>
                    <a:pt x="744474" y="0"/>
                  </a:lnTo>
                  <a:lnTo>
                    <a:pt x="0" y="1289431"/>
                  </a:lnTo>
                  <a:lnTo>
                    <a:pt x="744474" y="2578862"/>
                  </a:lnTo>
                  <a:lnTo>
                    <a:pt x="1488948" y="2578862"/>
                  </a:lnTo>
                  <a:lnTo>
                    <a:pt x="1488948" y="0"/>
                  </a:lnTo>
                  <a:close/>
                </a:path>
              </a:pathLst>
            </a:custGeom>
            <a:solidFill>
              <a:srgbClr val="1242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61965ED-A9DA-A5E1-9DC2-37A1325549CE}"/>
                </a:ext>
              </a:extLst>
            </p:cNvPr>
            <p:cNvSpPr/>
            <p:nvPr/>
          </p:nvSpPr>
          <p:spPr>
            <a:xfrm>
              <a:off x="13660119" y="0"/>
              <a:ext cx="4201795" cy="3503295"/>
            </a:xfrm>
            <a:custGeom>
              <a:avLst/>
              <a:gdLst/>
              <a:ahLst/>
              <a:cxnLst/>
              <a:rect l="l" t="t" r="r" b="b"/>
              <a:pathLst>
                <a:path w="4201794" h="3503295">
                  <a:moveTo>
                    <a:pt x="3229100" y="0"/>
                  </a:moveTo>
                  <a:lnTo>
                    <a:pt x="972205" y="0"/>
                  </a:lnTo>
                  <a:lnTo>
                    <a:pt x="0" y="1684020"/>
                  </a:lnTo>
                  <a:lnTo>
                    <a:pt x="1050290" y="3503295"/>
                  </a:lnTo>
                  <a:lnTo>
                    <a:pt x="3151124" y="3503295"/>
                  </a:lnTo>
                  <a:lnTo>
                    <a:pt x="4201541" y="1684020"/>
                  </a:lnTo>
                  <a:lnTo>
                    <a:pt x="3229100" y="0"/>
                  </a:lnTo>
                  <a:close/>
                </a:path>
              </a:pathLst>
            </a:custGeom>
            <a:solidFill>
              <a:srgbClr val="49A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8984D7E-7354-1A70-1C69-05A336739AC7}"/>
                </a:ext>
              </a:extLst>
            </p:cNvPr>
            <p:cNvSpPr/>
            <p:nvPr/>
          </p:nvSpPr>
          <p:spPr>
            <a:xfrm>
              <a:off x="13243940" y="0"/>
              <a:ext cx="2481580" cy="1193165"/>
            </a:xfrm>
            <a:custGeom>
              <a:avLst/>
              <a:gdLst/>
              <a:ahLst/>
              <a:cxnLst/>
              <a:rect l="l" t="t" r="r" b="b"/>
              <a:pathLst>
                <a:path w="2481580" h="1193165">
                  <a:moveTo>
                    <a:pt x="2413053" y="0"/>
                  </a:moveTo>
                  <a:lnTo>
                    <a:pt x="68258" y="0"/>
                  </a:lnTo>
                  <a:lnTo>
                    <a:pt x="0" y="118236"/>
                  </a:lnTo>
                  <a:lnTo>
                    <a:pt x="620268" y="1192783"/>
                  </a:lnTo>
                  <a:lnTo>
                    <a:pt x="1861057" y="1192783"/>
                  </a:lnTo>
                  <a:lnTo>
                    <a:pt x="2481326" y="118236"/>
                  </a:lnTo>
                  <a:lnTo>
                    <a:pt x="2413053" y="0"/>
                  </a:lnTo>
                  <a:close/>
                </a:path>
              </a:pathLst>
            </a:custGeom>
            <a:solidFill>
              <a:srgbClr val="5CE0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E8D9F7CC-8D5F-C1A0-7D74-4316E3050604}"/>
              </a:ext>
            </a:extLst>
          </p:cNvPr>
          <p:cNvSpPr txBox="1"/>
          <p:nvPr/>
        </p:nvSpPr>
        <p:spPr>
          <a:xfrm>
            <a:off x="1394841" y="4272533"/>
            <a:ext cx="901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03B221-D830-6003-C1EB-C6B9A6D04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38300"/>
            <a:ext cx="3531870" cy="784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8D07B5-6433-F096-B356-51481DD3F3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638300"/>
            <a:ext cx="3531870" cy="784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234C5F-16BC-0277-6744-542EB126C5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638300"/>
            <a:ext cx="3505200" cy="784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AB668EB-AAA7-4E05-2C0C-BD3620AF26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4801" y="1638300"/>
            <a:ext cx="3531870" cy="784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617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88165" y="3732403"/>
            <a:ext cx="2532507" cy="14050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50060" y="5626303"/>
            <a:ext cx="2853690" cy="88346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87871" y="1793709"/>
            <a:ext cx="2257679" cy="10237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07616" y="7417561"/>
            <a:ext cx="2727705" cy="15275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65008" y="7938337"/>
            <a:ext cx="4153154" cy="111000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5045" y="3327780"/>
            <a:ext cx="3321558" cy="110718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818487" y="803529"/>
            <a:ext cx="2116836" cy="235534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2000" y="8340597"/>
            <a:ext cx="2597785" cy="116373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39229" y="3732403"/>
            <a:ext cx="3333369" cy="282219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493391" y="413618"/>
            <a:ext cx="4562475" cy="2007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400"/>
              </a:lnSpc>
              <a:spcBef>
                <a:spcPts val="100"/>
              </a:spcBef>
            </a:pPr>
            <a:r>
              <a:rPr b="1" spc="-95" dirty="0">
                <a:latin typeface="Trebuchet MS"/>
                <a:cs typeface="Trebuchet MS"/>
              </a:rPr>
              <a:t>Technologies </a:t>
            </a:r>
            <a:r>
              <a:rPr b="1" spc="-20" dirty="0">
                <a:latin typeface="Trebuchet MS"/>
                <a:cs typeface="Trebuchet MS"/>
              </a:rPr>
              <a:t>Used</a:t>
            </a:r>
          </a:p>
        </p:txBody>
      </p:sp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374251" y="896747"/>
            <a:ext cx="3048000" cy="19050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82542" y="5740400"/>
            <a:ext cx="2712466" cy="21216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1645F4-6541-B98E-990A-ED638CFD962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42900"/>
            <a:ext cx="945531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8383" y="0"/>
            <a:ext cx="12429617" cy="81010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29055" y="3544061"/>
            <a:ext cx="8200390" cy="1927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450" spc="70" dirty="0"/>
              <a:t>Thank</a:t>
            </a:r>
            <a:r>
              <a:rPr sz="12450" spc="-855" dirty="0"/>
              <a:t> </a:t>
            </a:r>
            <a:r>
              <a:rPr sz="12450" spc="235" dirty="0">
                <a:solidFill>
                  <a:srgbClr val="F4F4F4"/>
                </a:solidFill>
              </a:rPr>
              <a:t>You</a:t>
            </a:r>
            <a:r>
              <a:rPr sz="12450" spc="-865" dirty="0">
                <a:solidFill>
                  <a:srgbClr val="F4F4F4"/>
                </a:solidFill>
              </a:rPr>
              <a:t> </a:t>
            </a:r>
            <a:r>
              <a:rPr sz="12450" spc="-1655" dirty="0">
                <a:solidFill>
                  <a:srgbClr val="F4F4F4"/>
                </a:solidFill>
              </a:rPr>
              <a:t>!</a:t>
            </a:r>
            <a:endParaRPr sz="12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733</Words>
  <Application>Microsoft Office PowerPoint</Application>
  <PresentationFormat>Custom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MT</vt:lpstr>
      <vt:lpstr>Calibri</vt:lpstr>
      <vt:lpstr>Trebuchet MS</vt:lpstr>
      <vt:lpstr>Office Theme</vt:lpstr>
      <vt:lpstr>Name PRN</vt:lpstr>
      <vt:lpstr>PowerPoint Presentation</vt:lpstr>
      <vt:lpstr>Introduction to the Company</vt:lpstr>
      <vt:lpstr>Internship Overview</vt:lpstr>
      <vt:lpstr>Project : SmartCollect</vt:lpstr>
      <vt:lpstr>AI Scrub Analysis</vt:lpstr>
      <vt:lpstr>Risk Categorization &amp; Inquiry</vt:lpstr>
      <vt:lpstr>SNAPSHOTS</vt:lpstr>
      <vt:lpstr>Sakhi App:-</vt:lpstr>
      <vt:lpstr>SNAPSHOTS:-</vt:lpstr>
      <vt:lpstr>Technologies Used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Internal Deck Presentation</dc:title>
  <cp:lastModifiedBy>pruthavik gavali</cp:lastModifiedBy>
  <cp:revision>5</cp:revision>
  <dcterms:created xsi:type="dcterms:W3CDTF">2025-12-05T18:00:58Z</dcterms:created>
  <dcterms:modified xsi:type="dcterms:W3CDTF">2025-12-05T18:36:31Z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2025-09-26T00:00:00Z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2025-12-05T00:00:00Z</vt:filetime>
  </property>
  <property fmtid="{D5CDD505-2E9C-101B-9397-08002B2CF9AE}" pid="5" name="Producer">
    <vt:lpwstr>Microsoft® PowerPoint® 2021</vt:lpwstr>
  </property>
</Properties>
</file>